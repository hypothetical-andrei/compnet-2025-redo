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9D96E5-BBC9-4408-8461-A2ECF0E1C8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DC3D09-6E95-4847-A177-09D82DFB06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A6D389E-5C47-49E0-8911-09B1A9BD8E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524099D-1B26-4077-8E38-381B0039C8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964BCD-FCD9-46AA-BA05-FF3F757353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874292E-68B3-49CE-8888-62EE18ADCF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E8DDA6D-1F32-4C12-999D-2D7A045A13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6F16F4A-D9B3-4ACD-9859-4E5277FA21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D85976E-F7F4-414A-9B13-80048601C7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713DD62-21DF-45A9-B8A2-01A6EE3248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78E348F-F450-42DE-9D29-A9C207AE66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6A3F12-E9E0-46B1-AA8D-927C8015233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Master text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</a:t>
            </a: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le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ve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AE9078-09FE-4EDD-98FB-093B497AD50E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EB7377-87DA-4AF5-932A-F2E2D7AAC19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C1AE41-D682-485A-AE7A-C35400E4AAB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3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BE5B5-9CA5-49A9-8238-CB8F9E95B20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E07A5D-3968-4BB5-A727-8623A36F19C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CC0007-186F-4EE1-A570-087E2B6064A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F89DA-5CC3-4FB2-B142-B7D371D9A2F3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41AAC8-CFDB-4DAE-9E03-C8692D18C8FC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81F039-5577-49B9-9028-74BDE6E27BCC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3F4675-E9D3-47FB-AC46-29D216C8606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Nivelul rețea: mecanisme de alocare și suport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NAT/PAT, ARP, DHCP/BOOTP, NDP, ICMP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Obiective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 finalul cursului, studentul poate: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de ce IPv4 a dus la NAT/PAT și ce compromisuri introduce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Distinge între NAT static, NAT dinamic și PAT (NAT overload)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Înțelege la nivel conceptual cum funcționează tabela NAT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ARP și proxy ARP (IPv4) și echivalentul IPv6 prin NDP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pașii DHCP (DORA) și rolul DHCP Relay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rolul ICMP (ping/traceroute, mesaje de eroare)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Înțelege rolul ICMPv6 în NDP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Context: de ce e nevoie de aceste mecanisme?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Adresare L3 (IPv4/IPv6) e globală/rutabilă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În practică trebuie: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alocare automată (DHCP/NDP)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mapare IP&lt;-&gt;MAC (ARP/NDP)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suport pentru diagnostic și control (ICMP)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compatibilitate cu lipsa adreselor IPv4 (NAT/PAT)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Picture 1" descr="assets/images/fig-l3-support-map.png"/>
          <p:cNvPicPr/>
          <p:nvPr/>
        </p:nvPicPr>
        <p:blipFill>
          <a:blip r:embed="rId1"/>
          <a:stretch/>
        </p:blipFill>
        <p:spPr>
          <a:xfrm>
            <a:off x="3568680" y="1498680"/>
            <a:ext cx="5105160" cy="18028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Epuizarea adreselor IPv4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Problema majoră a IPv4: spațiu mic de adrese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Soluții în timp: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adrese private reutilizabile (RFC1918)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NAT/PAT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tranziție IPv6 (lentă, dar continuă)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Adrese private reutilizabile (RFC1918)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10.0.0.0/8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172.16.0.0/12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192.168.0.0/16 Notă: nu sunt rutabile global; trebuie traduse/încapsulate pentru Internet.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Translatarea adreselor (NAT)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În mod normal, ruterul forwardează fără să schimbe IP-urile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NAT: modifică adresa sursă și/sau destinație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Necesită mapare bidirecțională pentru a primi răspuns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1" descr="assets/images/fig-nat-basic.png"/>
          <p:cNvPicPr/>
          <p:nvPr/>
        </p:nvPicPr>
        <p:blipFill>
          <a:blip r:embed="rId1"/>
          <a:stretch/>
        </p:blipFill>
        <p:spPr>
          <a:xfrm>
            <a:off x="4280040" y="203040"/>
            <a:ext cx="36698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Tabela NAT (concept)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Ruterul păstrează corespondențe intern &lt;-&gt; extern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Statică (config) sau dinamică (pe trafic)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Exemplu simplu: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192.168.0.1 -&gt; 166.14.133.3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Tipuri de translatare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NAT static (1:1)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NAT dinamic (pool de adrese publice)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PAT / NAT overload (mulți -&gt; 1 public, diferențiere prin port)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NAT static (1:1)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Problemă: server intern privat trebuie accesibil din exterior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Soluție: mapare fixă între IP privat și IP public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Picture 1" descr="assets/images/fig-nat-static.png"/>
          <p:cNvPicPr/>
          <p:nvPr/>
        </p:nvPicPr>
        <p:blipFill>
          <a:blip r:embed="rId1"/>
          <a:stretch/>
        </p:blipFill>
        <p:spPr>
          <a:xfrm>
            <a:off x="3568680" y="241200"/>
            <a:ext cx="5105160" cy="42922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NAT dinamic (pool)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Problemă: multe stații, puține IP-uri publice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Soluție: pool de IP-uri publice alocate temporar (lease pe mapare)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8" name="Picture 1" descr="assets/images/fig-nat-dynamic.png"/>
          <p:cNvPicPr/>
          <p:nvPr/>
        </p:nvPicPr>
        <p:blipFill>
          <a:blip r:embed="rId1"/>
          <a:stretch/>
        </p:blipFill>
        <p:spPr>
          <a:xfrm>
            <a:off x="3568680" y="368280"/>
            <a:ext cx="5105160" cy="403812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PAT (Port Address Translation)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Problemă: multe stații, o singură adresă publică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Soluție: mapare per-flux folosind porturi pe ruter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Exemplu tabelă: - 192.168.0.1:80 -&gt; 166.14.133.3:62101 - 192.168.0.2:80 -&gt; 166.14.133.3:63105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1" name="Picture 1" descr="assets/images/fig-pat.png"/>
          <p:cNvPicPr/>
          <p:nvPr/>
        </p:nvPicPr>
        <p:blipFill>
          <a:blip r:embed="rId1"/>
          <a:stretch/>
        </p:blipFill>
        <p:spPr>
          <a:xfrm>
            <a:off x="3568680" y="685800"/>
            <a:ext cx="5105160" cy="34160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assets/scenario-nat-linux/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Dezavantaje NAT/PAT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În PAT, conexiunile din Internet către interior sunt dificil de inițiat (fără port forwarding)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Încălcarea ideii end-to-end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Dependență de L4 (porturi) pentru o problemă de L3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Probleme cu unele protocoale și cu UDP (mai ales fără keepalive)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Îngreunează tuneluri / VPN / aplicații P2P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ARP (IPv4) și de ce există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În Ethernet trebuie MAC destinație pentru a trimite un cadru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ARP: IP -&gt; MAC în rețeaua locală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ARP request: broadcast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ARP reply: unicast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7" name="Picture 1" descr="assets/images/fig-arp.png"/>
          <p:cNvPicPr/>
          <p:nvPr/>
        </p:nvPicPr>
        <p:blipFill>
          <a:blip r:embed="rId1"/>
          <a:stretch/>
        </p:blipFill>
        <p:spPr>
          <a:xfrm>
            <a:off x="4330800" y="203040"/>
            <a:ext cx="356832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assets/scenario-arp-capture/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Proxy ARP (concept)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Dacă IP-ul căutat e în altă rețea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Ruterul poate răspunde cu MAC-ul lui (în locul destinației reale)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1" name="Picture 1" descr="assets/images/fig-proxy-arp.png"/>
          <p:cNvPicPr/>
          <p:nvPr/>
        </p:nvPicPr>
        <p:blipFill>
          <a:blip r:embed="rId1"/>
          <a:stretch/>
        </p:blipFill>
        <p:spPr>
          <a:xfrm>
            <a:off x="4622760" y="203040"/>
            <a:ext cx="29840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BOOTP (istoric)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Configurare IP prin server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Nu suportă alocare dinamică reală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DHCP este extensia practică; DHCP poate suporta clienți BOOTP (în general)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DHCP: rol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Alocare automată IP + parametri: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mască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default gateway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DNS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lease time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Picture 1" descr="assets/images/fig-dhcp-dora.png"/>
          <p:cNvPicPr/>
          <p:nvPr/>
        </p:nvPicPr>
        <p:blipFill>
          <a:blip r:embed="rId1"/>
          <a:stretch/>
        </p:blipFill>
        <p:spPr>
          <a:xfrm>
            <a:off x="4191120" y="203040"/>
            <a:ext cx="38732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assets/scenario-dhcp-capture/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DHCP DORA (pași)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Discover: client broadcast (UDP)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Offer: server oferă IP + parametri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Request: client acceptă (broadcast ca să notifice și alte servere)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Acknowledge: server confirmă lease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DHCP Relay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Discover e broadcast (nu trece prin rutare)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Relay pe ruter: transformă cererea și o trimite către serverul DHCP din altă rețea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2" name="Picture 1" descr="assets/images/fig-dhcp-relay.png"/>
          <p:cNvPicPr/>
          <p:nvPr/>
        </p:nvPicPr>
        <p:blipFill>
          <a:blip r:embed="rId1"/>
          <a:stretch/>
        </p:blipFill>
        <p:spPr>
          <a:xfrm>
            <a:off x="3568680" y="698400"/>
            <a:ext cx="5105160" cy="33778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NDP (IPv6)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În IPv6, multe roluri care în IPv4 sunt separate: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descoperire vecini (echivalent ARP)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descoperire router (gateway)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prefix discovery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DAD (duplicate address detection)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Folosește ICMPv6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5" name="Picture 1" descr="assets/images/fig-ndp.png"/>
          <p:cNvPicPr/>
          <p:nvPr/>
        </p:nvPicPr>
        <p:blipFill>
          <a:blip r:embed="rId1"/>
          <a:stretch/>
        </p:blipFill>
        <p:spPr>
          <a:xfrm>
            <a:off x="3568680" y="1257480"/>
            <a:ext cx="5105160" cy="22730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assets/scenario-ndp-capture/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Neighbor Solicitation / Advertisement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NS: solicitare către multicast solicitat-node (în loc de broadcast ca ARP)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NA: răspuns unicast direct către solicitant (sau anunț nesolicitat)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Pași: 1. Host A trimite NS → multicast: “Cine are adresa IPv6 X? Eu sunt A (MAC aa:bb…)” 2. Doar nodul cu adresa X procesează NS-ul 3. Nodul X trimite NA → unicast către A: “Eu am adresa X, MAC-ul meu e cc:dd…” 4. Host A actualizează cache-ul de vecini (IPv6 → MAC)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9" name="Picture 1" descr="assets/images/fig-ndp-ns-na.png"/>
          <p:cNvPicPr/>
          <p:nvPr/>
        </p:nvPicPr>
        <p:blipFill>
          <a:blip r:embed="rId1"/>
          <a:stretch/>
        </p:blipFill>
        <p:spPr>
          <a:xfrm>
            <a:off x="3568680" y="457200"/>
            <a:ext cx="5105160" cy="38732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NDP: descoperire router (RS/RA)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RS (Router Solicitation): trimis de hostul nou pe all-routers multicast — opțional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RA (Router Advertisement): trimis de router periodic și ca răspuns la RS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Pași: 1. Host nou trimite RS → all-routers multicast: “Există vreun router pe link?” (opțional) 2. Routerul aude RS (sau trimite RA periodic, nesolicitat) 3. Routerul trimite RA → all-nodes multicast: prefix, MTU, hop limit, flag M/O, lifetime 4. Hostul procesează RA: reține routerul ca default gateway + prefix pentru SLAAC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2" name="Picture 1" descr="assets/images/fig-ndp-rs-ra.png"/>
          <p:cNvPicPr/>
          <p:nvPr/>
        </p:nvPicPr>
        <p:blipFill>
          <a:blip r:embed="rId1"/>
          <a:stretch/>
        </p:blipFill>
        <p:spPr>
          <a:xfrm>
            <a:off x="3568680" y="774720"/>
            <a:ext cx="5105160" cy="3238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Autoconfigurare IPv6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Stateless (SLAAC):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link-local + DAD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prefix din RA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adresa globală rezultă din prefix + interface ID (sau token random)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Stateful: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DHCPv6 pentru parametri suplimentari (DNS etc), uneori și pentru adresă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Pași SLAAC + DAD: 1. Host generează adresă link-local tentativă: fe80::/10 + interface ID (EUI-64 sau random) 2. DAD: trimite NS pentru propria adresă tentativă → dacă cineva răspunde = conflict 3. Fără conflict → link-local confirmată și activată 4. Host primește RA cu prefix global (ex: 2001:db8:1::/64) → construiește adresă globală 5. DAD repetat pentru adresa globală 6. Adresă globală activă — host complet configurat fără server DHCP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5" name="Picture 1" descr="assets/images/fig-ndp-slaac-dad.png"/>
          <p:cNvPicPr/>
          <p:nvPr/>
        </p:nvPicPr>
        <p:blipFill>
          <a:blip r:embed="rId1"/>
          <a:stretch/>
        </p:blipFill>
        <p:spPr>
          <a:xfrm>
            <a:off x="4280040" y="203040"/>
            <a:ext cx="368280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ICMP: de ce există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Rețelele produc erori și au nevoie de feedback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ICMP: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mesaje de control și eroare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ping / traceroute (instrumente construite peste ICMP)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Nu se trimit mesaje ICMP pentru erori de ICMP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Picture 1" descr="assets/images/fig-icmp-role.png"/>
          <p:cNvPicPr/>
          <p:nvPr/>
        </p:nvPicPr>
        <p:blipFill>
          <a:blip r:embed="rId1"/>
          <a:stretch/>
        </p:blipFill>
        <p:spPr>
          <a:xfrm>
            <a:off x="4165560" y="203040"/>
            <a:ext cx="392400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assets/scenario-icmp-traceroute/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ICMPv6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rol similar ICMP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utilizat intens de NDP (de aceea filtrarea ICMPv6 “la grămadă” împiedică funcționarea IPv6)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Recapitulare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NAT/PAT: soluție practică pentru IPv4, cu compromisuri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ARP: IP-&gt;MAC (IPv4)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DHCP: configurare automată (IPv4)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NDP: ARP + router/prefix discovery (IPv6)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ICMP/ICMPv6: diagnostic + control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Pregătire pentru Curs 7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Rutare: RIP, OSPF (și ce înseamnă “tabele de rutare” în practică)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2026-03-30T09:13:57Z</dcterms:created>
  <dc:creator/>
  <dc:description/>
  <dc:language>en-US</dc:language>
  <cp:lastModifiedBy/>
  <dcterms:modified xsi:type="dcterms:W3CDTF">2026-03-30T12:30:20Z</dcterms:modified>
  <cp:revision>1</cp:revision>
  <dc:subject/>
  <dc:title/>
</cp:coreProperties>
</file>