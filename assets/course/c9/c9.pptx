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3" Type="http://schemas.openxmlformats.org/officeDocument/2006/relationships/viewProps" Target="viewProps.xml" /><Relationship Id="rId2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sesiune si nivelul prezentare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 conceptual OSI si implementari moderne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Explica rolul nivelului sesiune (L5) si prezentare (L6) in modelul OSI - Diferentia conexiune (L4) de sesiune (L5) - Intelege de ce L5 si L6 nu mai apar ca straturi separate azi - Identifica functii de sesiune si prezentare in sisteme moderne - Intelege legatura cu protocoalele de aplicatie (cursul 10)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 suntem in arhitectura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Pana acum:</a:t>
            </a:r>
          </a:p>
          <a:p>
            <a:pPr lvl="1"/>
            <a:r>
              <a:rPr/>
              <a:t>L3: adresare si rutare</a:t>
            </a:r>
          </a:p>
          <a:p>
            <a:pPr lvl="1"/>
            <a:r>
              <a:rPr/>
              <a:t>L4: transport (TCP, UDP, TLS)</a:t>
            </a:r>
          </a:p>
          <a:p>
            <a:pPr lvl="0"/>
            <a:r>
              <a:rPr/>
              <a:t>Azi:</a:t>
            </a:r>
          </a:p>
          <a:p>
            <a:pPr lvl="1"/>
            <a:r>
              <a:rPr/>
              <a:t>L5: sesiune (concept)</a:t>
            </a:r>
          </a:p>
          <a:p>
            <a:pPr lvl="1"/>
            <a:r>
              <a:rPr/>
              <a:t>L6: prezentare (concept)</a:t>
            </a:r>
          </a:p>
          <a:p>
            <a:pPr lvl="0"/>
            <a:r>
              <a:rPr/>
              <a:t>Urmeaza:</a:t>
            </a:r>
          </a:p>
          <a:p>
            <a:pPr lvl="1"/>
            <a:r>
              <a:rPr/>
              <a:t>L7: protocoale de aplicatie (HTTP, DNS, SMTP)</a:t>
            </a:r>
          </a:p>
        </p:txBody>
      </p:sp>
      <p:pic>
        <p:nvPicPr>
          <p:cNvPr descr="assets/images/fig-osi-l5-l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91100" y="203200"/>
            <a:ext cx="22606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 ce L5 si L6 creeaza confuzie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Internetul modern:</a:t>
            </a:r>
          </a:p>
          <a:p>
            <a:pPr lvl="1"/>
            <a:r>
              <a:rPr/>
              <a:t>nu exista protocoale “pure” de sesiune sau prezentare</a:t>
            </a:r>
          </a:p>
          <a:p>
            <a:pPr lvl="0"/>
            <a:r>
              <a:rPr/>
              <a:t>Majoritatea studentilor:</a:t>
            </a:r>
          </a:p>
          <a:p>
            <a:pPr lvl="1"/>
            <a:r>
              <a:rPr/>
              <a:t>nu pot indica un protocol concret L5/L6</a:t>
            </a:r>
          </a:p>
          <a:p>
            <a:pPr lvl="0"/>
            <a:r>
              <a:rPr/>
              <a:t>Motivul:</a:t>
            </a:r>
          </a:p>
          <a:p>
            <a:pPr lvl="1"/>
            <a:r>
              <a:rPr/>
              <a:t>functiile au fost absorbite de aplicatii si biblioteci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sesiune (L5) – rol conceptual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sesiune se ocupa de: - identificarea unei conversatii logice - mentinerea starii intre mesaje - controlul dialogului (cine vorbeste cand) - timeout, expirare, reluare</a:t>
            </a:r>
          </a:p>
          <a:p>
            <a:pPr lvl="0" indent="0" marL="0">
              <a:buNone/>
            </a:pPr>
            <a:r>
              <a:rPr/>
              <a:t>Nu defineste: - formatul datelor - transportul efectiv al acestora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Conexiune vs sesiune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Conexiune (L4):</a:t>
            </a:r>
          </a:p>
          <a:p>
            <a:pPr lvl="1"/>
            <a:r>
              <a:rPr/>
              <a:t>mecanism tehnic de livrare (TCP, UDP)</a:t>
            </a:r>
          </a:p>
          <a:p>
            <a:pPr lvl="1"/>
            <a:r>
              <a:rPr/>
              <a:t>exista cat timp socket-ul este deschis</a:t>
            </a:r>
          </a:p>
          <a:p>
            <a:pPr lvl="0"/>
            <a:r>
              <a:rPr/>
              <a:t>Sesiune (L5):</a:t>
            </a:r>
          </a:p>
          <a:p>
            <a:pPr lvl="1"/>
            <a:r>
              <a:rPr/>
              <a:t>context logic al interactiunii</a:t>
            </a:r>
          </a:p>
          <a:p>
            <a:pPr lvl="1"/>
            <a:r>
              <a:rPr/>
              <a:t>poate supravietui peste mai multe conexiuni</a:t>
            </a:r>
          </a:p>
        </p:txBody>
      </p:sp>
      <p:pic>
        <p:nvPicPr>
          <p:cNvPr descr="assets/images/fig-connection-vs-ses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26000" y="203200"/>
            <a:ext cx="25908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Protocol fara stare vs aplicatie cu stare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Multe protocoale sunt fara stare (stateless)</a:t>
            </a:r>
          </a:p>
          <a:p>
            <a:pPr lvl="0"/>
            <a:r>
              <a:rPr/>
              <a:t>Aplicatiile reale au nevoie de:</a:t>
            </a:r>
          </a:p>
          <a:p>
            <a:pPr lvl="1"/>
            <a:r>
              <a:rPr/>
              <a:t>autentificare</a:t>
            </a:r>
          </a:p>
          <a:p>
            <a:pPr lvl="1"/>
            <a:r>
              <a:rPr/>
              <a:t>continuitate</a:t>
            </a:r>
          </a:p>
          <a:p>
            <a:pPr lvl="1"/>
            <a:r>
              <a:rPr/>
              <a:t>progres (workflow)</a:t>
            </a:r>
          </a:p>
          <a:p>
            <a:pPr lvl="0"/>
            <a:r>
              <a:rPr/>
              <a:t>Starea este gestionata explicit la nivel superior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Cookie-urile: unde se incadreaza?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Cookie-urile sunt:</a:t>
            </a:r>
          </a:p>
          <a:p>
            <a:pPr lvl="1"/>
            <a:r>
              <a:rPr/>
              <a:t>transportate prin HTTP (L7)</a:t>
            </a:r>
          </a:p>
          <a:p>
            <a:pPr lvl="1"/>
            <a:r>
              <a:rPr/>
              <a:t>interpretate de browser si server</a:t>
            </a:r>
          </a:p>
          <a:p>
            <a:pPr lvl="0"/>
            <a:r>
              <a:rPr/>
              <a:t>Dar rezolva o problema tipica de sesiune:</a:t>
            </a:r>
          </a:p>
          <a:p>
            <a:pPr lvl="1"/>
            <a:r>
              <a:rPr/>
              <a:t>mentinerea starii intre cereri</a:t>
            </a:r>
          </a:p>
          <a:p>
            <a:pPr lvl="0" indent="0" marL="0">
              <a:buNone/>
            </a:pPr>
            <a:r>
              <a:rPr/>
              <a:t>Concluzie: - functie de nivel sesiune - implementata la nivel aplicatie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Alte mecanisme moderne de sesiune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Server-side sessions (Redis, DB)</a:t>
            </a:r>
          </a:p>
          <a:p>
            <a:pPr lvl="0"/>
            <a:r>
              <a:rPr/>
              <a:t>Token-uri (JWT, OAuth)</a:t>
            </a:r>
          </a:p>
          <a:p>
            <a:pPr lvl="0"/>
            <a:r>
              <a:rPr/>
              <a:t>TLS session resumption</a:t>
            </a:r>
          </a:p>
          <a:p>
            <a:pPr lvl="0"/>
            <a:r>
              <a:rPr/>
              <a:t>WebSocket connections</a:t>
            </a:r>
          </a:p>
          <a:p>
            <a:pPr lvl="0"/>
            <a:r>
              <a:rPr/>
              <a:t>Database sessions</a:t>
            </a:r>
          </a:p>
          <a:p>
            <a:pPr lvl="0" indent="0" marL="0">
              <a:buNone/>
            </a:pPr>
            <a:r>
              <a:rPr/>
              <a:t>Toate sunt: - concepte L5 - implementate in protocoale sau librarii L7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Nivelul prezentare (L6) – rol conceptual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prezentare se ocupa de: - reprezentarea datelor - codari de caractere - serializare - compresie - (istoric) criptare</a:t>
            </a:r>
          </a:p>
          <a:p>
            <a:pPr lvl="0" indent="0" marL="0">
              <a:buNone/>
            </a:pPr>
            <a:r>
              <a:rPr/>
              <a:t>Scop: - ca doua sisteme diferite sa inteleaga aceleasi date</a:t>
            </a:r>
          </a:p>
        </p:txBody>
      </p:sp>
      <p:pic>
        <p:nvPicPr>
          <p:cNvPr descr="assets/images/fig-presentation-pip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21200" y="203200"/>
            <a:ext cx="31877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Prezentare in Internetul modern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Functiile L6 apar azi ca: - formate de date: - JSON, XML, Protocol Buffers - codari: - UTF-8 - compresie: - gzip, brotli - tipuri de continut: - MIME types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MIME – exemplu clar de prezentare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MIME descrie ce reprezinta datele</a:t>
            </a:r>
          </a:p>
          <a:p>
            <a:pPr lvl="0"/>
            <a:r>
              <a:rPr/>
              <a:t>Format: tip/subtip</a:t>
            </a:r>
          </a:p>
          <a:p>
            <a:pPr lvl="0"/>
            <a:r>
              <a:rPr/>
              <a:t>Exemple:</a:t>
            </a:r>
          </a:p>
          <a:p>
            <a:pPr lvl="1"/>
            <a:r>
              <a:rPr/>
              <a:t>text/html</a:t>
            </a:r>
          </a:p>
          <a:p>
            <a:pPr lvl="1"/>
            <a:r>
              <a:rPr/>
              <a:t>application/json</a:t>
            </a:r>
          </a:p>
          <a:p>
            <a:pPr lvl="1"/>
            <a:r>
              <a:rPr/>
              <a:t>image/png</a:t>
            </a:r>
          </a:p>
        </p:txBody>
      </p:sp>
      <p:pic>
        <p:nvPicPr>
          <p:cNvPr descr="assets/images/fig-mime-examp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95500"/>
            <a:ext cx="5105400" cy="596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Content-Type vs Content-Encoding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Content-Type:</a:t>
            </a:r>
          </a:p>
          <a:p>
            <a:pPr lvl="1"/>
            <a:r>
              <a:rPr/>
              <a:t>semnificatia datelor (ce sunt)</a:t>
            </a:r>
          </a:p>
          <a:p>
            <a:pPr lvl="0"/>
            <a:r>
              <a:rPr/>
              <a:t>Content-Encoding:</a:t>
            </a:r>
          </a:p>
          <a:p>
            <a:pPr lvl="1"/>
            <a:r>
              <a:rPr/>
              <a:t>modul de impachetare (cum sunt transmise)</a:t>
            </a:r>
          </a:p>
          <a:p>
            <a:pPr lvl="0" indent="0" marL="0">
              <a:buNone/>
            </a:pPr>
            <a:r>
              <a:rPr/>
              <a:t>Exemplu: - Content-Type: text/html; charset=utf-8 - Content-Encoding: gzip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Base64 – problema clasica de prezentare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Unele canale sunt orientate pe text</a:t>
            </a:r>
          </a:p>
          <a:p>
            <a:pPr lvl="0"/>
            <a:r>
              <a:rPr/>
              <a:t>Datele binare trebuie transformate</a:t>
            </a:r>
          </a:p>
          <a:p>
            <a:pPr lvl="0"/>
            <a:r>
              <a:rPr/>
              <a:t>Base64:</a:t>
            </a:r>
          </a:p>
          <a:p>
            <a:pPr lvl="1"/>
            <a:r>
              <a:rPr/>
              <a:t>binar -&gt; text</a:t>
            </a:r>
          </a:p>
          <a:p>
            <a:pPr lvl="1"/>
            <a:r>
              <a:rPr/>
              <a:t>creste dimensiunea datelor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 a disparut criptarea din L6?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 OSI, criptarea era la prezentare</a:t>
            </a:r>
          </a:p>
          <a:p>
            <a:pPr lvl="0"/>
            <a:r>
              <a:rPr/>
              <a:t>In Internet:</a:t>
            </a:r>
          </a:p>
          <a:p>
            <a:pPr lvl="1"/>
            <a:r>
              <a:rPr/>
              <a:t>criptarea a fost mutata in TLS</a:t>
            </a:r>
          </a:p>
          <a:p>
            <a:pPr lvl="1"/>
            <a:r>
              <a:rPr/>
              <a:t>intre transport si aplicatie</a:t>
            </a:r>
          </a:p>
          <a:p>
            <a:pPr lvl="0"/>
            <a:r>
              <a:rPr/>
              <a:t>Motiv:</a:t>
            </a:r>
          </a:p>
          <a:p>
            <a:pPr lvl="1"/>
            <a:r>
              <a:rPr/>
              <a:t>securitatea trebuia standardizata si reutilizabila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L5 si L6 azi: concluzia cheie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Nu mai sunt straturi separate pe fir</a:t>
            </a:r>
          </a:p>
          <a:p>
            <a:pPr lvl="0"/>
            <a:r>
              <a:rPr/>
              <a:t>Sunt:</a:t>
            </a:r>
          </a:p>
          <a:p>
            <a:pPr lvl="1"/>
            <a:r>
              <a:rPr/>
              <a:t>probleme de design</a:t>
            </a:r>
          </a:p>
          <a:p>
            <a:pPr lvl="1"/>
            <a:r>
              <a:rPr/>
              <a:t>responsabilitati logice</a:t>
            </a:r>
          </a:p>
          <a:p>
            <a:pPr lvl="0"/>
            <a:r>
              <a:rPr/>
              <a:t>Implementate prin:</a:t>
            </a:r>
          </a:p>
          <a:p>
            <a:pPr lvl="1"/>
            <a:r>
              <a:rPr/>
              <a:t>protocoale de aplicatie</a:t>
            </a:r>
          </a:p>
          <a:p>
            <a:pPr lvl="1"/>
            <a:r>
              <a:rPr/>
              <a:t>framework-uri</a:t>
            </a:r>
          </a:p>
          <a:p>
            <a:pPr lvl="1"/>
            <a:r>
              <a:rPr/>
              <a:t>middleware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 recunosti L5 vs L6 in practica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Daca vezi:</a:t>
            </a:r>
          </a:p>
          <a:p>
            <a:pPr lvl="1"/>
            <a:r>
              <a:rPr/>
              <a:t>sesiune, cookie, token, timeout → problema de sesiune (L5)</a:t>
            </a:r>
          </a:p>
          <a:p>
            <a:pPr lvl="0"/>
            <a:r>
              <a:rPr/>
              <a:t>Daca vezi:</a:t>
            </a:r>
          </a:p>
          <a:p>
            <a:pPr lvl="1"/>
            <a:r>
              <a:rPr/>
              <a:t>JSON, UTF-8, gzip, MIME → problema de prezentare (L6)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Legatura cu cursul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HTTP:</a:t>
            </a:r>
          </a:p>
          <a:p>
            <a:pPr lvl="1"/>
            <a:r>
              <a:rPr/>
              <a:t>este protocol de aplicatie (L7)</a:t>
            </a:r>
          </a:p>
          <a:p>
            <a:pPr lvl="1"/>
            <a:r>
              <a:rPr/>
              <a:t>incorporeaza functii L5 si L6</a:t>
            </a:r>
          </a:p>
          <a:p>
            <a:pPr lvl="0"/>
            <a:r>
              <a:rPr/>
              <a:t>Urmeaza:</a:t>
            </a:r>
          </a:p>
          <a:p>
            <a:pPr lvl="1"/>
            <a:r>
              <a:rPr/>
              <a:t>metode HTTP</a:t>
            </a:r>
          </a:p>
          <a:p>
            <a:pPr lvl="1"/>
            <a:r>
              <a:rPr/>
              <a:t>status codes</a:t>
            </a:r>
          </a:p>
          <a:p>
            <a:pPr lvl="1"/>
            <a:r>
              <a:rPr/>
              <a:t>REST, API-uri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L5 (sesiune): stare logica a conversatiei</a:t>
            </a:r>
          </a:p>
          <a:p>
            <a:pPr lvl="0"/>
            <a:r>
              <a:rPr/>
              <a:t>L6 (prezentare): reprezentarea datelor</a:t>
            </a:r>
          </a:p>
          <a:p>
            <a:pPr lvl="0"/>
            <a:r>
              <a:rPr/>
              <a:t>Azi:</a:t>
            </a:r>
          </a:p>
          <a:p>
            <a:pPr lvl="1"/>
            <a:r>
              <a:rPr/>
              <a:t>nu sunt straturi separate</a:t>
            </a:r>
          </a:p>
          <a:p>
            <a:pPr lvl="1"/>
            <a:r>
              <a:rPr/>
              <a:t>dar sunt esentiale conceptual</a:t>
            </a:r>
          </a:p>
          <a:p>
            <a:pPr lvl="0"/>
            <a:r>
              <a:rPr/>
              <a:t>Cursul 10: HTTP ca exemplu complet L7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2026-04-23T12:18:54Z</dcterms:created>
  <dcterms:modified xsi:type="dcterms:W3CDTF">2026-04-23T12:18:54Z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