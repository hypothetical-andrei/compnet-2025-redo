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F5F01A-F4CD-4405-9E5E-82C56961E6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091414-279A-4A79-89FB-F0379655E2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28451FA-0608-4215-A7B4-A091F8F2C5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94FCD27-4F5C-4540-834F-D6CA2BB183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E5C3134-339E-400B-B5FD-A1E380CBAC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582F224-48EA-4968-B0EA-ACD602247E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8D73DB3-A9E7-402B-A357-30E5339FD2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3DB9C61-A4FF-410C-BCF3-DB216D4B41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926FF90-3E44-4013-B0C4-08A89E444C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F72AB12-6E44-4302-8EE4-FF9F68AF79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6C46E35-B14F-4EEF-AEE5-02E4EB1878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F6C251-DE5B-41AC-9A67-B05AE5110412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F26477-F66A-48C1-A1A6-C52D5EEAF287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375D1B-AC06-449F-853B-F8312530786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EF452A-18E9-405A-83F8-20178F7CA36D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3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37F7E1-4733-4C1C-91E4-22FA2862B555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7D4977-2AFF-4F8D-AD60-99E846403235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FA646B-D07F-4572-B476-6DB6C989564A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6BF04D-4D3D-4915-977D-2EB1CA3027C1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B475D5-6457-4509-9065-864DCE16E5E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E8EB12-72DA-45EE-A7DF-4336FE888357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7510E8-B6CF-4B00-8DCD-02A682C696B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Nivelul fizic si nivelul legatura de date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Obiective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 finalul cursului, studentul poate: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Descrie rolul nivelului fizic si limitarile lui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Enumera tipuri de medii de transmisie si proprietati relevante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Explica pe scurt codarea pe linie (NRZ, NRZI, Manchester) si de ce exista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Intelege ideea de modulatie (ASK, FSK, PSK, QAM) la nivel conceptual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Explica rolul LLC si MAC si structura unui cadru (frame)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Intelege Ethernet: adrese MAC, format cadru, coliziuni, CSMA/CD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Intelege WiFi la nivel 2: canale, tipuri de cadre, CSMA/CA, moduri placa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Intelege rolul switch-ului: CAM learning, flooding, aging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- Explica VLAN si de ce reduce domeniul de broadcast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Unde suntem in stiva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Nivel fizic: semnal si biti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Nivel legatura: cadre, MAC, acces la mediu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" name="Picture 1" descr="assets/images/fig-l1-l2-context.png"/>
          <p:cNvPicPr/>
          <p:nvPr/>
        </p:nvPicPr>
        <p:blipFill>
          <a:blip r:embed="rId1"/>
          <a:stretch/>
        </p:blipFill>
        <p:spPr>
          <a:xfrm>
            <a:off x="4470480" y="203040"/>
            <a:ext cx="330156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Nivelul fizic: rol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Transferul fizic al bitilor pe mediu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Defineste semnalul: electric, optic, radio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Defineste parametrii: rate, sincronizare, conectori, distante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Medii de transmisie (grosier)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Ghidate: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cupru: coaxial, torsadat (UTP/STP)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fibra optica: single-mode, multi-mode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Neghidate: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radio: WiFi, LTE (4G), etc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5" name="Picture 1" descr="assets/images/fig-transfer-media.png"/>
          <p:cNvPicPr/>
          <p:nvPr/>
        </p:nvPicPr>
        <p:blipFill>
          <a:blip r:embed="rId1"/>
          <a:stretch/>
        </p:blipFill>
        <p:spPr>
          <a:xfrm>
            <a:off x="3568680" y="1625760"/>
            <a:ext cx="5105160" cy="15490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Proprietati relevante ale mediului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atenuare (scade amplitudinea)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zgomot (interferente)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latime de banda (Hz) vs bitrate (biti/s)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diafonie (crosstalk) pentru cupru, reflexii (signal reflections din schimbare de impedanta)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distanta maxima practica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Codare pe linie (line coding): de ce?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vrem sincronizare si tranzitii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vrem sa evitam perioade lungi de timp cu un voltaj constant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vrem detectie de erori simple (uneori)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exemple: NRZ, NRZI, Manchester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Picture 1" descr="assets/images/fig-line-coding-overview.png"/>
          <p:cNvPicPr/>
          <p:nvPr/>
        </p:nvPicPr>
        <p:blipFill>
          <a:blip r:embed="rId1"/>
          <a:stretch/>
        </p:blipFill>
        <p:spPr>
          <a:xfrm>
            <a:off x="3568680" y="1460520"/>
            <a:ext cx="5105160" cy="18666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assets/scenario-line-coding/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NRZ (Non Return to Zero)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 si 0 sunt nivele constante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problema: secvente lungi fara tranzitii -&gt; sincronizare dificila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NRZI (Non Return to Zero Inverted)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 produce tranzitie, 0 nu (sau invers, dupa conventie)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imbunatateste sincronizarea pentru anumite date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Manchester encoding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tranzitie in mijlocul bitului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sincronizare buna, dar rata semnalului creste (cost in banda)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Modulatie (concept)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variem o purtatoare: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ASK (Amplitude Shift Keying): amplitudine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FSK (Frequency Shift Keying): frecventa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PSK (Phase Shift Keying): faza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QAM (Quadrature Amplitude Modulation): combinatie amplitudine + faza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0" name="Picture 1" descr="assets/images/fig-modulation.png"/>
          <p:cNvPicPr/>
          <p:nvPr/>
        </p:nvPicPr>
        <p:blipFill>
          <a:blip r:embed="rId1"/>
          <a:stretch/>
        </p:blipFill>
        <p:spPr>
          <a:xfrm>
            <a:off x="3568680" y="1257480"/>
            <a:ext cx="5105160" cy="22730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De la semnal la cadru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L1 livreaza un flux de biti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L2 construieste cadre: delimitare, adresare, CRC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Limitarile nivelului fizic (tranzitie catre L2)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Nivelul fizic nu poate comunica direct cu software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Nivelul fizic nu suporta adresare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Gestioneaza fluxuri simple de biti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Nivelul legatura de date: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permite adresare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unitate structurata: cadru (frame)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servicii de acces la mediu pentru straturile superioare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Structura nivelului de legatura de date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Doua subniveluri: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LLC (Logical Link Control): interfata spre software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MAC (Media Access Control): interfata spre hardware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7" name="Picture 1" descr="assets/images/fig-llc-mac.png"/>
          <p:cNvPicPr/>
          <p:nvPr/>
        </p:nvPicPr>
        <p:blipFill>
          <a:blip r:embed="rId1"/>
          <a:stretch/>
        </p:blipFill>
        <p:spPr>
          <a:xfrm>
            <a:off x="5410080" y="203040"/>
            <a:ext cx="140940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LLC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IEEE 802.2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independent de mediul fizic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control flux (unde e cazul)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multiplexare pentru protocoale superioare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MAC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control acces la mediu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construieste cadrele efective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dependenta de tehnologie (Ethernet vs WiFi)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Functii MAC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delimitare cadre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adresare sursa/destinatie (MAC)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transfer transparent al PDU-urilor LLC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detectie erori (CRC)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control acces la mediu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Incapsulare la nivel 2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impachetarea datelor in cadru (frame)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formatul depinde de tehnologie, dar campurile sunt similare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Picture 1" descr="assets/images/fig-l2-encapsulation.png"/>
          <p:cNvPicPr/>
          <p:nvPr/>
        </p:nvPicPr>
        <p:blipFill>
          <a:blip r:embed="rId1"/>
          <a:stretch/>
        </p:blipFill>
        <p:spPr>
          <a:xfrm>
            <a:off x="4648320" y="203040"/>
            <a:ext cx="29588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Campuri tipice intr-un cadru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start cadru (preambul / delimitator)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adrese MAC sursa si destinatie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tip/lungime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date (payload)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CRC / FCS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Ethernet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cel mai raspandit nivel 2 (IEEE 802.3)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mediu: cupru (istoric coaxial, apoi torsadat), si fibra in multe scenarii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variante: 10BaseT, 100BaseT, 1000BaseT etc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Formatul cadrului Ethernet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2" name="Picture 1" descr="assets/images/fig-ethernet-frame.png"/>
          <p:cNvPicPr/>
          <p:nvPr/>
        </p:nvPicPr>
        <p:blipFill>
          <a:blip r:embed="rId1"/>
          <a:stretch/>
        </p:blipFill>
        <p:spPr>
          <a:xfrm>
            <a:off x="3695760" y="1193760"/>
            <a:ext cx="1739520" cy="33904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Adrese MAC (48 biti)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OUI (24 biti) + identificator interfata (24 biti)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broadcast local: FF:FF:FF:FF:FF:FF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adrese local-administered: bit specific setat in primul octet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assets/scenario-mac-arp-ethernet/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Coliziuni in Ethernet (istoric si concept)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apar cand doua noduri transmit simultan pe acelasi mediu partajat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CSMA/CD: asculta mediul, detecteaza coliziuni, backoff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in full-duplex cu switch: coliziunile dispar practic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7" name="Picture 1" descr="assets/images/fig-csma-cd.png"/>
          <p:cNvPicPr/>
          <p:nvPr/>
        </p:nvPicPr>
        <p:blipFill>
          <a:blip r:embed="rId1"/>
          <a:stretch/>
        </p:blipFill>
        <p:spPr>
          <a:xfrm>
            <a:off x="3733920" y="203040"/>
            <a:ext cx="47876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Alte probleme la nivel 2 (Ethernet)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switching loops -&gt; broadcast storms (nu exista TTL la L2)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jabber (cadre prea mari)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runt frames (cadre prea mici)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WiFi (IEEE 802.11)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mediu: aer (unde radio)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benzi uzuale: 2.4 GHz, 5 GHz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canale: pot fi suprapuse sau ne-suprapuse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Picture 1" descr="assets/images/fig-wifi-channels-24ghz.png"/>
          <p:cNvPicPr/>
          <p:nvPr/>
        </p:nvPicPr>
        <p:blipFill>
          <a:blip r:embed="rId1"/>
          <a:stretch/>
        </p:blipFill>
        <p:spPr>
          <a:xfrm>
            <a:off x="4317840" y="203040"/>
            <a:ext cx="361908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Cadre WiFi (tipuri)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control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management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date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Structura cadrului WiFi (concept)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control: versiune, tip, subtip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ToDS/FromDS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4 adrese (in functie de scenariu)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FCS la final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7" name="Picture 1" descr="assets/images/fig-wifi-frame-concept.png"/>
          <p:cNvPicPr/>
          <p:nvPr/>
        </p:nvPicPr>
        <p:blipFill>
          <a:blip r:embed="rId1"/>
          <a:stretch/>
        </p:blipFill>
        <p:spPr>
          <a:xfrm>
            <a:off x="5283360" y="203040"/>
            <a:ext cx="166320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Coliziuni in WiFi si CSMA/CA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coliziuni exista frecvent (mediul e partajat)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CSMA/CA: asculta, asteapta random, optional RTS/CTS, apoi asteapta confirmare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0" name="Picture 1" descr="assets/images/fig-csma-ca.png"/>
          <p:cNvPicPr/>
          <p:nvPr/>
        </p:nvPicPr>
        <p:blipFill>
          <a:blip r:embed="rId1"/>
          <a:stretch/>
        </p:blipFill>
        <p:spPr>
          <a:xfrm>
            <a:off x="4280040" y="203040"/>
            <a:ext cx="36698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Moduri de functionare ale placilor WiFi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managed (client)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AP (access point)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AP cu VLAN tagging (AP-tag)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WiFi P2P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monitor (sniffing la nivel 2)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Autentificare in WiFi (high level)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WEP (depasit)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WPA (depasit)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WPA2 (foarte raspandit)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WPA3 (adoptie)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Switch-uri: repetor vs bridge vs switch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repetor: amplifica semnalul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bridge: filtreaza minim, decizii simple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switch: comutare pe baza de MAC (circuite virtuale)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CAM (MAC learning)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tabela: MAC -&gt; port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invata din sursa cadrelor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daca nu stie destinatia: flooding pe toate porturile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9" name="Picture 1" descr="assets/images/fig-switch-cam-learning.png"/>
          <p:cNvPicPr/>
          <p:nvPr/>
        </p:nvPicPr>
        <p:blipFill>
          <a:blip r:embed="rId1"/>
          <a:stretch/>
        </p:blipFill>
        <p:spPr>
          <a:xfrm>
            <a:off x="3568680" y="800280"/>
            <a:ext cx="5105160" cy="31744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CAM aging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intrarile expira daca nu sunt folosite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previne asocierea gresita dupa mutarea unui host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VLAN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imparte o retea fizica in retele logice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fiecare VLAN = domeniu de broadcast distinct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tagging (802.1Q) pe trunk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4" name="Picture 1" descr="assets/images/fig-vlan.png"/>
          <p:cNvPicPr/>
          <p:nvPr/>
        </p:nvPicPr>
        <p:blipFill>
          <a:blip r:embed="rId1"/>
          <a:stretch/>
        </p:blipFill>
        <p:spPr>
          <a:xfrm>
            <a:off x="3568680" y="1270080"/>
            <a:ext cx="5105160" cy="22474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Recapitulare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L1: mediu, semnal, codare, modulatie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L2: cadre, MAC/LLC, CRC, acces la mediu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Ethernet vs WiFi: CSMA/CD vs CSMA/CA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Switch: CAM learning + flooding + aging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VLAN: segmentare si broadcast domain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Pregatire pentru Curs 5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Nivelul retea: IP, adresare, subnetting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Diferenta: MAC (flat) vs IP (ierarhic)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2026-03-13T05:25:38Z</dcterms:created>
  <dc:creator/>
  <dc:description/>
  <dc:language>en-US</dc:language>
  <cp:lastModifiedBy/>
  <dcterms:modified xsi:type="dcterms:W3CDTF">2026-03-13T07:27:07Z</dcterms:modified>
  <cp:revision>2</cp:revision>
  <dc:subject/>
  <dc:title/>
</cp:coreProperties>
</file>