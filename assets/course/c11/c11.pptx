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Curs 11 – Nivelul aplicație: FTP, DNS, SSH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FTP, DNS, SSH – protocoale clasice de aplicație și rolul lor operațional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finalul cursului, studentul poate:</a:t>
            </a:r>
          </a:p>
          <a:p>
            <a:pPr lvl="0"/>
            <a:r>
              <a:rPr/>
              <a:t>Explica diferența dintre protocoale de aplicație orientate pe fișiere, nume și control</a:t>
            </a:r>
          </a:p>
          <a:p>
            <a:pPr lvl="0"/>
            <a:r>
              <a:rPr/>
              <a:t>Descrie funcționarea FTP (control vs data, active vs passive)</a:t>
            </a:r>
          </a:p>
          <a:p>
            <a:pPr lvl="0"/>
            <a:r>
              <a:rPr/>
              <a:t>Explica rolul DNS și procesul de rezoluție</a:t>
            </a:r>
          </a:p>
          <a:p>
            <a:pPr lvl="0"/>
            <a:r>
              <a:rPr/>
              <a:t>Înțelege rolul TTL și caching în DNS</a:t>
            </a:r>
          </a:p>
          <a:p>
            <a:pPr lvl="0"/>
            <a:r>
              <a:rPr/>
              <a:t>Explica rolul SSH ca protocol de control securizat</a:t>
            </a:r>
          </a:p>
          <a:p>
            <a:pPr lvl="0"/>
            <a:r>
              <a:rPr/>
              <a:t>Utiliza SSH pentru execuție la distanță, transfer de fișiere și tunelare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Nivelul aplicație – recapitulare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Nivelul aplicație definește:</a:t>
            </a:r>
          </a:p>
          <a:p>
            <a:pPr lvl="1"/>
            <a:r>
              <a:rPr/>
              <a:t>semantică (ce înseamnă datele)</a:t>
            </a:r>
          </a:p>
          <a:p>
            <a:pPr lvl="1"/>
            <a:r>
              <a:rPr/>
              <a:t>structura mesajelor</a:t>
            </a:r>
          </a:p>
          <a:p>
            <a:pPr lvl="1"/>
            <a:r>
              <a:rPr/>
              <a:t>comportamentul protocolului</a:t>
            </a:r>
          </a:p>
          <a:p>
            <a:pPr lvl="0"/>
            <a:r>
              <a:rPr/>
              <a:t>Protocoalele de aplicație:</a:t>
            </a:r>
          </a:p>
          <a:p>
            <a:pPr lvl="1"/>
            <a:r>
              <a:rPr/>
              <a:t>folosesc TCP sau UDP</a:t>
            </a:r>
          </a:p>
          <a:p>
            <a:pPr lvl="1"/>
            <a:r>
              <a:rPr/>
              <a:t>sunt independente de rețea și transport</a:t>
            </a:r>
          </a:p>
          <a:p>
            <a:pPr lvl="0"/>
            <a:r>
              <a:rPr/>
              <a:t>Exemple clasice:</a:t>
            </a:r>
          </a:p>
          <a:p>
            <a:pPr lvl="1"/>
            <a:r>
              <a:rPr/>
              <a:t>FTP – transfer de fișiere</a:t>
            </a:r>
          </a:p>
          <a:p>
            <a:pPr lvl="1"/>
            <a:r>
              <a:rPr/>
              <a:t>DNS – rezoluție de nume</a:t>
            </a:r>
          </a:p>
          <a:p>
            <a:pPr lvl="1"/>
            <a:r>
              <a:rPr/>
              <a:t>SSH – acces și control la distanță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FTP – File Transfer Protocol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 este FTP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Protocol de nivel aplicație pentru transfer de fișiere</a:t>
            </a:r>
          </a:p>
          <a:p>
            <a:pPr lvl="0"/>
            <a:r>
              <a:rPr/>
              <a:t>Definire veche (RFC 959), dar încă relevantă conceptual</a:t>
            </a:r>
          </a:p>
          <a:p>
            <a:pPr lvl="0"/>
            <a:r>
              <a:rPr/>
              <a:t>Funcționează peste TCP</a:t>
            </a:r>
          </a:p>
          <a:p>
            <a:pPr lvl="0"/>
            <a:r>
              <a:rPr/>
              <a:t>Separă:</a:t>
            </a:r>
          </a:p>
          <a:p>
            <a:pPr lvl="1"/>
            <a:r>
              <a:rPr/>
              <a:t>canalul de control</a:t>
            </a:r>
          </a:p>
          <a:p>
            <a:pPr lvl="1"/>
            <a:r>
              <a:rPr/>
              <a:t>canalul de date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FTP: control vs data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Conexiune de control:</a:t>
            </a:r>
          </a:p>
          <a:p>
            <a:pPr lvl="1"/>
            <a:r>
              <a:rPr/>
              <a:t>TCP port 21</a:t>
            </a:r>
          </a:p>
          <a:p>
            <a:pPr lvl="1"/>
            <a:r>
              <a:rPr/>
              <a:t>persistentă</a:t>
            </a:r>
          </a:p>
          <a:p>
            <a:pPr lvl="1"/>
            <a:r>
              <a:rPr/>
              <a:t>comenzi și răspunsuri text</a:t>
            </a:r>
          </a:p>
          <a:p>
            <a:pPr lvl="0"/>
            <a:r>
              <a:rPr/>
              <a:t>Conexiune de date:</a:t>
            </a:r>
          </a:p>
          <a:p>
            <a:pPr lvl="1"/>
            <a:r>
              <a:rPr/>
              <a:t>separată</a:t>
            </a:r>
          </a:p>
          <a:p>
            <a:pPr lvl="1"/>
            <a:r>
              <a:rPr/>
              <a:t>doar pentru transfer efectiv</a:t>
            </a:r>
          </a:p>
          <a:p>
            <a:pPr lvl="1"/>
            <a:r>
              <a:rPr/>
              <a:t>se deschide și închide frecvent</a:t>
            </a:r>
          </a:p>
        </p:txBody>
      </p:sp>
      <p:pic>
        <p:nvPicPr>
          <p:cNvPr descr="assets/images/fig-ftp-control-da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41500"/>
            <a:ext cx="5105400" cy="109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FTP: mod activ vs mod pasiv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Active mode:</a:t>
            </a:r>
          </a:p>
          <a:p>
            <a:pPr lvl="1"/>
            <a:r>
              <a:rPr/>
              <a:t>serverul inițiază conexiunea de date către client</a:t>
            </a:r>
          </a:p>
          <a:p>
            <a:pPr lvl="1"/>
            <a:r>
              <a:rPr/>
              <a:t>problematic în prezența NAT/firewall</a:t>
            </a:r>
          </a:p>
          <a:p>
            <a:pPr lvl="0"/>
            <a:r>
              <a:rPr/>
              <a:t>Passive mode:</a:t>
            </a:r>
          </a:p>
          <a:p>
            <a:pPr lvl="1"/>
            <a:r>
              <a:rPr/>
              <a:t>clientul inițiază conexiunea de date</a:t>
            </a:r>
          </a:p>
          <a:p>
            <a:pPr lvl="1"/>
            <a:r>
              <a:rPr/>
              <a:t>mult mai robust în rețele moderne</a:t>
            </a:r>
          </a:p>
        </p:txBody>
      </p:sp>
      <p:pic>
        <p:nvPicPr>
          <p:cNvPr descr="assets/images/fig-ftp-active-vs-passiv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90700"/>
            <a:ext cx="5105400" cy="120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FTP în practică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FTP clasic este fragil:</a:t>
            </a:r>
          </a:p>
          <a:p>
            <a:pPr lvl="1"/>
            <a:r>
              <a:rPr/>
              <a:t>NAT</a:t>
            </a:r>
          </a:p>
          <a:p>
            <a:pPr lvl="1"/>
            <a:r>
              <a:rPr/>
              <a:t>firewall-uri</a:t>
            </a:r>
          </a:p>
          <a:p>
            <a:pPr lvl="1"/>
            <a:r>
              <a:rPr/>
              <a:t>multiple porturi dinamice</a:t>
            </a:r>
          </a:p>
          <a:p>
            <a:pPr lvl="0"/>
            <a:r>
              <a:rPr/>
              <a:t>În practică:</a:t>
            </a:r>
          </a:p>
          <a:p>
            <a:pPr lvl="1"/>
            <a:r>
              <a:rPr/>
              <a:t>FTPS (FTP peste TLS)</a:t>
            </a:r>
          </a:p>
          <a:p>
            <a:pPr lvl="1"/>
            <a:r>
              <a:rPr/>
              <a:t>SFTP (peste SSH)</a:t>
            </a:r>
          </a:p>
          <a:p>
            <a:pPr lvl="0"/>
            <a:r>
              <a:rPr/>
              <a:t>FTP rămâne relevant didactic pentru:</a:t>
            </a:r>
          </a:p>
          <a:p>
            <a:pPr lvl="1"/>
            <a:r>
              <a:rPr/>
              <a:t>separarea control/data</a:t>
            </a:r>
          </a:p>
          <a:p>
            <a:pPr lvl="1"/>
            <a:r>
              <a:rPr/>
              <a:t>limitările protocoalelor vechi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DNS – Domain Name System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Rolul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Traduce nume simbolice în adrese IP</a:t>
            </a:r>
          </a:p>
          <a:p>
            <a:pPr lvl="0"/>
            <a:r>
              <a:rPr/>
              <a:t>Sistem distribuit, ierarhic</a:t>
            </a:r>
          </a:p>
          <a:p>
            <a:pPr lvl="0"/>
            <a:r>
              <a:rPr/>
              <a:t>Esențial pentru funcționarea Internetului</a:t>
            </a:r>
          </a:p>
          <a:p>
            <a:pPr lvl="0"/>
            <a:r>
              <a:rPr/>
              <a:t>Majoritatea aplicațiilor depind implicit de DNS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Actori DNS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Stub resolver:</a:t>
            </a:r>
          </a:p>
          <a:p>
            <a:pPr lvl="1"/>
            <a:r>
              <a:rPr/>
              <a:t>în OS / browser</a:t>
            </a:r>
          </a:p>
          <a:p>
            <a:pPr lvl="0"/>
            <a:r>
              <a:rPr/>
              <a:t>Recursive resolver:</a:t>
            </a:r>
          </a:p>
          <a:p>
            <a:pPr lvl="1"/>
            <a:r>
              <a:rPr/>
              <a:t>ISP, enterprise, public (ex: 8.8.8.8)</a:t>
            </a:r>
          </a:p>
          <a:p>
            <a:pPr lvl="0"/>
            <a:r>
              <a:rPr/>
              <a:t>Servere authoritative:</a:t>
            </a:r>
          </a:p>
          <a:p>
            <a:pPr lvl="1"/>
            <a:r>
              <a:rPr/>
              <a:t>dețin informația finală pentru o zonă</a:t>
            </a:r>
          </a:p>
        </p:txBody>
      </p:sp>
      <p:pic>
        <p:nvPicPr>
          <p:cNvPr descr="assets/images/fig-dns-acto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87800" y="203200"/>
            <a:ext cx="42799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Rezoluția DNS (conceptual)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Clientul întreabă resolver-ul recursiv</a:t>
            </a:r>
          </a:p>
          <a:p>
            <a:pPr lvl="0" indent="-342900" marL="342900">
              <a:buAutoNum type="arabicPeriod"/>
            </a:pPr>
            <a:r>
              <a:rPr/>
              <a:t>Resolver-ul întreabă:</a:t>
            </a:r>
          </a:p>
          <a:p>
            <a:pPr lvl="1"/>
            <a:r>
              <a:rPr/>
              <a:t>root - știe unde sunt TLD-urile</a:t>
            </a:r>
          </a:p>
          <a:p>
            <a:pPr lvl="1"/>
            <a:r>
              <a:rPr/>
              <a:t>TLD - știe unde sunt domeniile</a:t>
            </a:r>
          </a:p>
          <a:p>
            <a:pPr lvl="1"/>
            <a:r>
              <a:rPr/>
              <a:t>authoritative - are înregistrările efective de DNS</a:t>
            </a:r>
          </a:p>
          <a:p>
            <a:pPr lvl="0" indent="-342900" marL="342900">
              <a:buAutoNum type="arabicPeriod"/>
            </a:pPr>
            <a:r>
              <a:rPr/>
              <a:t>Răspunsul este cache-uit conform TTL</a:t>
            </a:r>
          </a:p>
        </p:txBody>
      </p:sp>
      <p:pic>
        <p:nvPicPr>
          <p:cNvPr descr="assets/images/fig-dns-resolution-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43000"/>
            <a:ext cx="51054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Tipuri de înregistrări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DNS nu returnează doar adrese IP.</a:t>
            </a:r>
          </a:p>
          <a:p>
            <a:pPr lvl="0" indent="0" marL="0">
              <a:buNone/>
            </a:pPr>
            <a:r>
              <a:rPr/>
              <a:t>O zonă DNS poate conține mai multe tipuri de înregistrări:</a:t>
            </a:r>
          </a:p>
          <a:p>
            <a:pPr lvl="0"/>
            <a:r>
              <a:rPr/>
              <a:t>A:</a:t>
            </a:r>
          </a:p>
          <a:p>
            <a:pPr lvl="1"/>
            <a:r>
              <a:rPr/>
              <a:t>asociază un nume cu o adresă IPv4</a:t>
            </a:r>
          </a:p>
          <a:p>
            <a:pPr lvl="1"/>
            <a:r>
              <a:rPr/>
              <a:t>exemplu: </a:t>
            </a:r>
            <a:r>
              <a:rPr>
                <a:latin typeface="Courier"/>
              </a:rPr>
              <a:t>example.com -&gt; 93.184.216.34</a:t>
            </a:r>
          </a:p>
          <a:p>
            <a:pPr lvl="0"/>
            <a:r>
              <a:rPr/>
              <a:t>AAAA:</a:t>
            </a:r>
          </a:p>
          <a:p>
            <a:pPr lvl="1"/>
            <a:r>
              <a:rPr/>
              <a:t>asociază un nume cu o adresă IPv6</a:t>
            </a:r>
          </a:p>
          <a:p>
            <a:pPr lvl="0"/>
            <a:r>
              <a:rPr/>
              <a:t>CNAME:</a:t>
            </a:r>
          </a:p>
          <a:p>
            <a:pPr lvl="1"/>
            <a:r>
              <a:rPr/>
              <a:t>alias către alt nume DNS</a:t>
            </a:r>
          </a:p>
          <a:p>
            <a:pPr lvl="1"/>
            <a:r>
              <a:rPr/>
              <a:t>exemplu: </a:t>
            </a:r>
            <a:r>
              <a:rPr>
                <a:latin typeface="Courier"/>
              </a:rPr>
              <a:t>www.example.com -&gt; example.com</a:t>
            </a:r>
          </a:p>
          <a:p>
            <a:pPr lvl="0"/>
            <a:r>
              <a:rPr/>
              <a:t>MX:</a:t>
            </a:r>
          </a:p>
          <a:p>
            <a:pPr lvl="1"/>
            <a:r>
              <a:rPr/>
              <a:t>indică serverele de mail pentru un domeniu</a:t>
            </a:r>
          </a:p>
          <a:p>
            <a:pPr lvl="0"/>
            <a:r>
              <a:rPr/>
              <a:t>NS:</a:t>
            </a:r>
          </a:p>
          <a:p>
            <a:pPr lvl="1"/>
            <a:r>
              <a:rPr/>
              <a:t>indică serverele DNS authoritative pentru o zonă</a:t>
            </a:r>
          </a:p>
          <a:p>
            <a:pPr lvl="0"/>
            <a:r>
              <a:rPr/>
              <a:t>TXT:</a:t>
            </a:r>
          </a:p>
          <a:p>
            <a:pPr lvl="1"/>
            <a:r>
              <a:rPr/>
              <a:t>text asociat unui domeniu</a:t>
            </a:r>
          </a:p>
          <a:p>
            <a:pPr lvl="1"/>
            <a:r>
              <a:rPr/>
              <a:t>folosit frecvent pentru verificări și politici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Exemple de înregistrări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example.com.        A      93.184.216.34
example.com.        AAAA   2606:2800:220:1:248:1893:25c8:1946
www.example.com.    CNAME  example.com.
example.com.        MX     10 mail.example.com.
mail.example.com.   A      203.0.113.10
example.com.        NS     ns1.example.net.
example.com.        NS     ns2.example.net.
example.com.        TXT    "v=spf1 mx -all"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Înregistrări DNS speciale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Unele înregistrări DNS nu sunt folosite direct pentru a afla adresa IP a unui server, ci pentru configurare, securitate sau validare.</a:t>
            </a:r>
          </a:p>
          <a:p>
            <a:pPr lvl="0"/>
            <a:r>
              <a:rPr/>
              <a:t>SPF:</a:t>
            </a:r>
          </a:p>
          <a:p>
            <a:pPr lvl="1"/>
            <a:r>
              <a:rPr/>
              <a:t>definește ce servere au voie să trimită email pentru domeniu</a:t>
            </a:r>
          </a:p>
          <a:p>
            <a:pPr lvl="1"/>
            <a:r>
              <a:rPr/>
              <a:t>publicată ca înregistrare TXT</a:t>
            </a:r>
          </a:p>
          <a:p>
            <a:pPr lvl="0"/>
            <a:r>
              <a:rPr/>
              <a:t>DKIM:</a:t>
            </a:r>
          </a:p>
          <a:p>
            <a:pPr lvl="1"/>
            <a:r>
              <a:rPr/>
              <a:t>publică o cheie criptografică folosită pentru verificarea semnăturilor email</a:t>
            </a:r>
          </a:p>
          <a:p>
            <a:pPr lvl="1"/>
            <a:r>
              <a:rPr/>
              <a:t>publicată ca înregistrare TXT</a:t>
            </a:r>
          </a:p>
          <a:p>
            <a:pPr lvl="0"/>
            <a:r>
              <a:rPr/>
              <a:t>DMARC:</a:t>
            </a:r>
          </a:p>
          <a:p>
            <a:pPr lvl="1"/>
            <a:r>
              <a:rPr/>
              <a:t>definește ce se întâmplă cu emailurile care nu trec verificările SPF/DKIM</a:t>
            </a:r>
          </a:p>
          <a:p>
            <a:pPr lvl="1"/>
            <a:r>
              <a:rPr/>
              <a:t>publicată ca înregistrare TXT sub </a:t>
            </a:r>
            <a:r>
              <a:rPr>
                <a:latin typeface="Courier"/>
              </a:rPr>
              <a:t>_dmarc.domeniu</a:t>
            </a:r>
          </a:p>
          <a:p>
            <a:pPr lvl="0"/>
            <a:r>
              <a:rPr/>
              <a:t>SRV:</a:t>
            </a:r>
          </a:p>
          <a:p>
            <a:pPr lvl="1"/>
            <a:r>
              <a:rPr/>
              <a:t>indică serverul și portul pentru un anumit serviciu</a:t>
            </a:r>
          </a:p>
          <a:p>
            <a:pPr lvl="1"/>
            <a:r>
              <a:rPr/>
              <a:t>exemplu: servicii VoIP, LDAP, XMPP</a:t>
            </a:r>
          </a:p>
          <a:p>
            <a:pPr lvl="0"/>
            <a:r>
              <a:rPr/>
              <a:t>CAA:</a:t>
            </a:r>
          </a:p>
          <a:p>
            <a:pPr lvl="1"/>
            <a:r>
              <a:rPr/>
              <a:t>indică ce autorități de certificare pot emite certificate TLS pentru domeniu</a:t>
            </a:r>
          </a:p>
          <a:p>
            <a:pPr lvl="0" indent="0" marL="0">
              <a:buNone/>
            </a:pPr>
            <a:r>
              <a:rPr/>
              <a:t>Exemplu DMARC:</a:t>
            </a:r>
          </a:p>
          <a:p>
            <a:pPr lvl="0" indent="0">
              <a:buNone/>
            </a:pPr>
            <a:r>
              <a:rPr>
                <a:latin typeface="Courier"/>
              </a:rPr>
              <a:t>_dmarc.example.com. TXT "v=DMARC1; p=reject; rua=mailto:dmarc-reports@example.com"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TTL și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Fiecare răspuns DNS are TTL</a:t>
            </a:r>
          </a:p>
          <a:p>
            <a:pPr lvl="0"/>
            <a:r>
              <a:rPr/>
              <a:t>Resolver-ele cache-uiesc răspunsurile</a:t>
            </a:r>
          </a:p>
          <a:p>
            <a:pPr lvl="0"/>
            <a:r>
              <a:rPr/>
              <a:t>Modificările nu sunt vizibile instantaneu</a:t>
            </a:r>
          </a:p>
          <a:p>
            <a:pPr lvl="0"/>
            <a:r>
              <a:rPr/>
              <a:t>TTL mic:</a:t>
            </a:r>
          </a:p>
          <a:p>
            <a:pPr lvl="1"/>
            <a:r>
              <a:rPr/>
              <a:t>flexibilitate</a:t>
            </a:r>
          </a:p>
          <a:p>
            <a:pPr lvl="1"/>
            <a:r>
              <a:rPr/>
              <a:t>mai mult trafic</a:t>
            </a:r>
          </a:p>
          <a:p>
            <a:pPr lvl="0"/>
            <a:r>
              <a:rPr/>
              <a:t>TTL mare:</a:t>
            </a:r>
          </a:p>
          <a:p>
            <a:pPr lvl="1"/>
            <a:r>
              <a:rPr/>
              <a:t>performanță</a:t>
            </a:r>
          </a:p>
          <a:p>
            <a:pPr lvl="1"/>
            <a:r>
              <a:rPr/>
              <a:t>propagare lentă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DNSSEC (mențiune)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Extensie de securitate pentru DNS</a:t>
            </a:r>
          </a:p>
          <a:p>
            <a:pPr lvl="0"/>
            <a:r>
              <a:rPr/>
              <a:t>Asigură:</a:t>
            </a:r>
          </a:p>
          <a:p>
            <a:pPr lvl="1"/>
            <a:r>
              <a:rPr/>
              <a:t>integritatea datelor</a:t>
            </a:r>
          </a:p>
          <a:p>
            <a:pPr lvl="1"/>
            <a:r>
              <a:rPr/>
              <a:t>autenticitatea răspunsurilor</a:t>
            </a:r>
          </a:p>
          <a:p>
            <a:pPr lvl="0"/>
            <a:r>
              <a:rPr/>
              <a:t>Bazat pe lanț de încredere criptografic</a:t>
            </a:r>
          </a:p>
        </p:txBody>
      </p:sp>
      <p:pic>
        <p:nvPicPr>
          <p:cNvPr descr="assets/images/fig-dnssec-chain-of-tru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57700" y="203200"/>
            <a:ext cx="3327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SSH – Secure Shell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 este SSH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Protocol securizat de acces la distanță</a:t>
            </a:r>
          </a:p>
          <a:p>
            <a:pPr lvl="0"/>
            <a:r>
              <a:rPr/>
              <a:t>Rulează peste TCP (port 22)</a:t>
            </a:r>
          </a:p>
          <a:p>
            <a:pPr lvl="0"/>
            <a:r>
              <a:rPr/>
              <a:t>Oferă:</a:t>
            </a:r>
          </a:p>
          <a:p>
            <a:pPr lvl="1"/>
            <a:r>
              <a:rPr/>
              <a:t>autentificare</a:t>
            </a:r>
          </a:p>
          <a:p>
            <a:pPr lvl="1"/>
            <a:r>
              <a:rPr/>
              <a:t>criptare</a:t>
            </a:r>
          </a:p>
          <a:p>
            <a:pPr lvl="1"/>
            <a:r>
              <a:rPr/>
              <a:t>integritate</a:t>
            </a:r>
          </a:p>
          <a:p>
            <a:pPr lvl="0"/>
            <a:r>
              <a:rPr/>
              <a:t>Înlocuiește telnet, rsh, ftp nesecurizat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SSH: conexiune și canale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 singură conexiune TCP</a:t>
            </a:r>
          </a:p>
          <a:p>
            <a:pPr lvl="0"/>
            <a:r>
              <a:rPr/>
              <a:t>Multiplexare logică în canale:</a:t>
            </a:r>
          </a:p>
          <a:p>
            <a:pPr lvl="1"/>
            <a:r>
              <a:rPr/>
              <a:t>shell interactiv</a:t>
            </a:r>
          </a:p>
          <a:p>
            <a:pPr lvl="1"/>
            <a:r>
              <a:rPr/>
              <a:t>execuție comenzi</a:t>
            </a:r>
          </a:p>
          <a:p>
            <a:pPr lvl="1"/>
            <a:r>
              <a:rPr/>
              <a:t>SFTP</a:t>
            </a:r>
          </a:p>
          <a:p>
            <a:pPr lvl="1"/>
            <a:r>
              <a:rPr/>
              <a:t>port forwarding</a:t>
            </a:r>
          </a:p>
        </p:txBody>
      </p:sp>
      <p:pic>
        <p:nvPicPr>
          <p:cNvPr descr="assets/images/fig-ssh-chann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08100"/>
            <a:ext cx="51054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Port forwarding prin SSH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Local forwarding</a:t>
            </a:r>
          </a:p>
          <a:p>
            <a:pPr lvl="0"/>
            <a:r>
              <a:rPr/>
              <a:t>Remote forwarding</a:t>
            </a:r>
          </a:p>
          <a:p>
            <a:pPr lvl="0"/>
            <a:r>
              <a:rPr/>
              <a:t>Dynamic forwarding (SOCKS proxy)</a:t>
            </a:r>
          </a:p>
          <a:p>
            <a:pPr lvl="0"/>
            <a:r>
              <a:rPr/>
              <a:t>SSH poate funcționa ca:</a:t>
            </a:r>
          </a:p>
          <a:p>
            <a:pPr lvl="1"/>
            <a:r>
              <a:rPr/>
              <a:t>tunel securizat</a:t>
            </a:r>
          </a:p>
          <a:p>
            <a:pPr lvl="1"/>
            <a:r>
              <a:rPr/>
              <a:t>bastion</a:t>
            </a:r>
          </a:p>
          <a:p>
            <a:pPr lvl="1"/>
            <a:r>
              <a:rPr/>
              <a:t>proxy ad-hoc</a:t>
            </a:r>
          </a:p>
        </p:txBody>
      </p:sp>
      <p:pic>
        <p:nvPicPr>
          <p:cNvPr descr="assets/images/fig-ssh-port-forward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08200"/>
            <a:ext cx="5105400" cy="57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SSH ca “control plane”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Folosit extensiv în:</a:t>
            </a:r>
          </a:p>
          <a:p>
            <a:pPr lvl="1"/>
            <a:r>
              <a:rPr/>
              <a:t>administrare sisteme</a:t>
            </a:r>
          </a:p>
          <a:p>
            <a:pPr lvl="1"/>
            <a:r>
              <a:rPr/>
              <a:t>DevOps</a:t>
            </a:r>
          </a:p>
          <a:p>
            <a:pPr lvl="1"/>
            <a:r>
              <a:rPr/>
              <a:t>infrastructură</a:t>
            </a:r>
          </a:p>
          <a:p>
            <a:pPr lvl="0"/>
            <a:r>
              <a:rPr/>
              <a:t>Multe unelte moderne sunt “SSH orchestrat”:</a:t>
            </a:r>
          </a:p>
          <a:p>
            <a:pPr lvl="1"/>
            <a:r>
              <a:rPr/>
              <a:t>Ansible</a:t>
            </a:r>
          </a:p>
          <a:p>
            <a:pPr lvl="1"/>
            <a:r>
              <a:rPr/>
              <a:t>Fabric</a:t>
            </a:r>
          </a:p>
          <a:p>
            <a:pPr lvl="1"/>
            <a:r>
              <a:rPr/>
              <a:t>vechiul Terraform (remote exec)</a:t>
            </a:r>
          </a:p>
          <a:p>
            <a:pPr lvl="0"/>
            <a:r>
              <a:rPr/>
              <a:t>SSH + JSON = protocol de control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Scenarii practice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Scenariu 1 – FTP real: control vs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Server FTP real (pyftpdlib)</a:t>
            </a:r>
          </a:p>
          <a:p>
            <a:pPr lvl="0"/>
            <a:r>
              <a:rPr/>
              <a:t>Client FTP Python</a:t>
            </a:r>
          </a:p>
          <a:p>
            <a:pPr lvl="0"/>
            <a:r>
              <a:rPr/>
              <a:t>Observarea conexiunilor:</a:t>
            </a:r>
          </a:p>
          <a:p>
            <a:pPr lvl="1"/>
            <a:r>
              <a:rPr/>
              <a:t>control</a:t>
            </a:r>
          </a:p>
          <a:p>
            <a:pPr lvl="1"/>
            <a:r>
              <a:rPr/>
              <a:t>data</a:t>
            </a:r>
          </a:p>
          <a:p>
            <a:pPr lvl="0"/>
            <a:r>
              <a:rPr/>
              <a:t>Comparație active vs passive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c11-assets/scenario-ftp-baseline/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Scenariu 2 – FTP și NAT/firewall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Topologie cu NAT intermediar</a:t>
            </a:r>
          </a:p>
          <a:p>
            <a:pPr lvl="0"/>
            <a:r>
              <a:rPr/>
              <a:t>Client “în spatele firewall-ului”</a:t>
            </a:r>
          </a:p>
          <a:p>
            <a:pPr lvl="0"/>
            <a:r>
              <a:rPr/>
              <a:t>Demonstrăm:</a:t>
            </a:r>
          </a:p>
          <a:p>
            <a:pPr lvl="1"/>
            <a:r>
              <a:rPr/>
              <a:t>de ce active mode e problematic</a:t>
            </a:r>
          </a:p>
          <a:p>
            <a:pPr lvl="1"/>
            <a:r>
              <a:rPr/>
              <a:t>de ce passive mode funcționează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c11-assets/scenario-ftp-nat-firewall/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Scenariu 3 – DNS: TTL și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Authoritative DNS + resolver recursiv</a:t>
            </a:r>
          </a:p>
          <a:p>
            <a:pPr lvl="0"/>
            <a:r>
              <a:rPr/>
              <a:t>Modificare zonă DNS</a:t>
            </a:r>
          </a:p>
          <a:p>
            <a:pPr lvl="0"/>
            <a:r>
              <a:rPr/>
              <a:t>Observarea propagării în funcție de TTL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c11-assets/scenario-dns-ttl-caching/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Scenariu 4 – SSH ca mecanism de provisionare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Descriere infrastructură în JSON</a:t>
            </a:r>
          </a:p>
          <a:p>
            <a:pPr lvl="0"/>
            <a:r>
              <a:rPr/>
              <a:t>Execuție comenzi remote</a:t>
            </a:r>
          </a:p>
          <a:p>
            <a:pPr lvl="0"/>
            <a:r>
              <a:rPr/>
              <a:t>Transfer fișiere</a:t>
            </a:r>
          </a:p>
          <a:p>
            <a:pPr lvl="0"/>
            <a:r>
              <a:rPr/>
              <a:t>Implementare Python cu paramiko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c11-assets/scenario-ssh-provision/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Recapitulare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FTP:</a:t>
            </a:r>
          </a:p>
          <a:p>
            <a:pPr lvl="1"/>
            <a:r>
              <a:rPr/>
              <a:t>separare control/data</a:t>
            </a:r>
          </a:p>
          <a:p>
            <a:pPr lvl="1"/>
            <a:r>
              <a:rPr/>
              <a:t>limitări în rețele moderne</a:t>
            </a:r>
          </a:p>
          <a:p>
            <a:pPr lvl="0"/>
            <a:r>
              <a:rPr/>
              <a:t>DNS:</a:t>
            </a:r>
          </a:p>
          <a:p>
            <a:pPr lvl="1"/>
            <a:r>
              <a:rPr/>
              <a:t>sistem distribuit</a:t>
            </a:r>
          </a:p>
          <a:p>
            <a:pPr lvl="1"/>
            <a:r>
              <a:rPr/>
              <a:t>caching și TTL</a:t>
            </a:r>
          </a:p>
          <a:p>
            <a:pPr lvl="0"/>
            <a:r>
              <a:rPr/>
              <a:t>SSH:</a:t>
            </a:r>
          </a:p>
          <a:p>
            <a:pPr lvl="1"/>
            <a:r>
              <a:rPr/>
              <a:t>protocol securizat</a:t>
            </a:r>
          </a:p>
          <a:p>
            <a:pPr lvl="1"/>
            <a:r>
              <a:rPr/>
              <a:t>mecanism general de control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Concluzie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Protocoalele clasice de aplicație sunt:</a:t>
            </a:r>
          </a:p>
          <a:p>
            <a:pPr lvl="0"/>
            <a:r>
              <a:rPr/>
              <a:t>mai simple semantic</a:t>
            </a:r>
          </a:p>
          <a:p>
            <a:pPr lvl="0"/>
            <a:r>
              <a:rPr/>
              <a:t>dar extrem de importante operațional</a:t>
            </a:r>
          </a:p>
          <a:p>
            <a:pPr lvl="0"/>
            <a:r>
              <a:rPr/>
              <a:t>baza pentru multe sisteme moderne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2026-05-08T04:41:39Z</dcterms:created>
  <dcterms:modified xsi:type="dcterms:W3CDTF">2026-05-08T04:41:39Z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