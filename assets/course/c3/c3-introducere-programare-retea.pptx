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7559675" cy="10691800"/>
  <p:embeddedFontLst>
    <p:embeddedFont>
      <p:font typeface="Roboto"/>
      <p:regular r:id="rId24"/>
      <p:bold r:id="rId25"/>
      <p:italic r:id="rId26"/>
      <p:boldItalic r:id="rId27"/>
    </p:embeddedFont>
    <p:embeddedFont>
      <p:font typeface="Merriweath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iNYfVqlFFSAhyiwN9+GMJG5BOu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oboto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Merriweather-regular.fntdata"/><Relationship Id="rId27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erriweather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erriweather-boldItalic.fntdata"/><Relationship Id="rId30" Type="http://schemas.openxmlformats.org/officeDocument/2006/relationships/font" Target="fonts/Merriweather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cd820f5a27_0_1634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g3cd820f5a27_0_1634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g3cd820f5a27_0_1634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g3cd820f5a27_0_16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cd820f5a27_0_1639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g3cd820f5a27_0_1639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g3cd820f5a27_0_1639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g3cd820f5a27_0_16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cd820f5a27_0_164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cd820f5a27_0_164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g3cd820f5a27_0_164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g3cd820f5a27_0_164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g3cd820f5a27_0_164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g3cd820f5a27_0_16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cd820f5a27_0_1651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cd820f5a27_0_165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g3cd820f5a27_0_1651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g3cd820f5a27_0_1651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g3cd820f5a27_0_16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cd820f5a27_0_1657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cd820f5a27_0_165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g3cd820f5a27_0_16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cd820f5a27_0_1661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cd820f5a27_0_1661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g3cd820f5a27_0_1661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g3cd820f5a27_0_16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d820f5a27_0_1666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g3cd820f5a27_0_16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d820f5a27_0_166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cd820f5a27_0_166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g3cd820f5a27_0_166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g3cd820f5a27_0_166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g3cd820f5a27_0_16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d820f5a27_0_1675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cd820f5a27_0_1675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g3cd820f5a27_0_16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d820f5a27_0_1679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3cd820f5a27_0_1679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g3cd820f5a27_0_16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d820f5a27_0_16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d820f5a27_0_1685"/>
          <p:cNvSpPr txBox="1"/>
          <p:nvPr>
            <p:ph type="title"/>
          </p:nvPr>
        </p:nvSpPr>
        <p:spPr>
          <a:xfrm>
            <a:off x="457200" y="205920"/>
            <a:ext cx="82293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g3cd820f5a27_0_1685"/>
          <p:cNvSpPr txBox="1"/>
          <p:nvPr>
            <p:ph idx="1" type="body"/>
          </p:nvPr>
        </p:nvSpPr>
        <p:spPr>
          <a:xfrm>
            <a:off x="457200" y="1200240"/>
            <a:ext cx="82293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3cd820f5a27_0_1685"/>
          <p:cNvSpPr txBox="1"/>
          <p:nvPr>
            <p:ph idx="11" type="ftr"/>
          </p:nvPr>
        </p:nvSpPr>
        <p:spPr>
          <a:xfrm>
            <a:off x="3124080" y="4767120"/>
            <a:ext cx="28950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cd820f5a27_0_1685"/>
          <p:cNvSpPr txBox="1"/>
          <p:nvPr>
            <p:ph idx="12" type="sldNum"/>
          </p:nvPr>
        </p:nvSpPr>
        <p:spPr>
          <a:xfrm>
            <a:off x="6553080" y="476712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g3cd820f5a27_0_1685"/>
          <p:cNvSpPr txBox="1"/>
          <p:nvPr>
            <p:ph idx="10" type="dt"/>
          </p:nvPr>
        </p:nvSpPr>
        <p:spPr>
          <a:xfrm>
            <a:off x="457200" y="4767120"/>
            <a:ext cx="21333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cd820f5a27_0_16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g3cd820f5a27_0_16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cd820f5a27_0_16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Introducere in programarea aplicatiilor cu comunicare in retea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Obiective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finalul cursului, studentul poate: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Explica diferentele: aplicatie peste HTTP vs programare pe socket (transport)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Folosi socket-uri TCP si UDP (client + server)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Intelege probleme tipice: framing, concurenta, timeouts, sesiuni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Intelege ce inseamna RAW sockets si cand are sens sa le folosesti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Consideratii generale (design de protocol)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Unitati de transfer: format, marime, reprezentare (bytes vs text)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Protocoale de comunicatie: comenzi, raspunsuri, erori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Unidirectional vs bidirectional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 stare vs fara stare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Semnalarea erorilor (coduri, mesaje, retry)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Extensibilitate (versiuni, campuri optionale)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Securitate (autentificare, criptare, integritate)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Abstractii peste nivelul aplicatie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Folosim un protocol de aplicatie existent ca “transport”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Ignoram straturile de sub aplicatie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Exemplu: HTTP pentru acces la obiecte la distanta (REST), RPC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[FIG] c3-assets/fig-app-over-http.png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Programarea la nivel transport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Folosim TCP sau UDP ca “canal”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Implementam servere care respecta un protocol de aplicatie (ex: HTTP minimal)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Sau definim protocoale custom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baza: Berkeley sockets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 este un socket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structura/obiect care reprezinta un capat de comunicatie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Unix: seamana cu un fisier (descriptor)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Identificare prin: IP + port + protocol (TCP/UDP)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Tipuri de socket-uri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(stream sockets)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UDP (datagram sockets)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sockets (sub nivelul transport)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TCP: caracteristici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Orientat pe conexiune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Flux de bytes (nu “mesaje”)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Livrare in ordine (in mod normal)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flux / retransmisii (la nivel TCP)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aplicatiei: delimitarea mesajelor (framing)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Fluxul unui server TCP (accept loop)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[FIG] c3-assets/fig-tcp-server-flow.png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TCP: problema 1 - framing (stream != message)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recv(1024) nu garanteaza ca primesti “un mesaj complet”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Solutii: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1" marL="6858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delimitator (ex: newline)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1" marL="6858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lungime prefixata (length prefix)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1" marL="6858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 de tip TLV (type-length-value)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[SCENARIO] c3-assets/scenario-tcp-framing/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TCP: problema 2 - concurenta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server simplu blocheaza pe un client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Solutii uzuale: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1" marL="6858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thread per client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1" marL="6858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per client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1" marL="6858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–"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async / event loop (select, epoll)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[FIG] c3-assets/fig-tcp-concurrency.png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[SCENARIO] c3-assets/scenario-tcp-multiclient/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TCP: timeouts si inchideri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2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Timeouts pentru connect/recv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Clientul poate inchide conexiunea (recv -&gt; 0 bytes)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Tratare robusta a erorilor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UDP: caracteristici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Fara conexiune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mesaj = o datagrama (limite de marime)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 garanteaza livrare / ordine / unicitate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Serverul nu “accepta”, doar recvfrom/sendto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Fluxul unui server UDP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[FIG] c3-assets/fig-udp-server-flow.png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UDP: probleme specifice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“Sesiuni” la nivel aplicatie (identificare client)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Confirmari (ACK) si retransmisii la nivel aplicatie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Comenzi multi-pas (stare)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[SCENARIO] c3-assets/scenario-udp-session-ack/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sockets (sub nivel transport)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Trimiti/primesti pachete “mai jos” decat TCP/UDP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Necesita privilegii (root/admin)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Folosit pentru instrumente (diagnostic), cercetare, implementari custom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[FIG] c3-assets/fig-raw-layering.png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Scapy (constructie de pachete)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construire si trimitere pachete L3/L2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Bun pentru invatare: IP/ICMP, DNS simplu, etc.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[SCENARIO] c3-assets/scenario-scapy-icmp/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Recapitulare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ca abstractie peste aplicatie vs socket direct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TCP: stream, framing, concurenta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UDP: datagrame, sesiune/ACK in aplicatie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RAW/scapy: sub transport, cu privilegii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lang="en-US" sz="33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Pregatire pentru urmatorul curs</a:t>
            </a:r>
            <a:endParaRPr b="0" sz="33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Curs 4: nivel fizic + legatura de date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479"/>
              </a:spcBef>
              <a:spcAft>
                <a:spcPts val="12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Vom lega: cadre, MAC, switch, coliziuni/CSMA (conceptual)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2026-03-06T06:41:25Z</dcterms:created>
</cp:coreProperties>
</file>