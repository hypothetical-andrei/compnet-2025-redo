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slide" Target="slides/slide32.xml" /><Relationship Id="rId34" Type="http://schemas.openxmlformats.org/officeDocument/2006/relationships/slide" Target="slides/slide33.xml" /><Relationship Id="rId35" Type="http://schemas.openxmlformats.org/officeDocument/2006/relationships/slide" Target="slides/slide34.xml" /><Relationship Id="rId36" Type="http://schemas.openxmlformats.org/officeDocument/2006/relationships/slide" Target="slides/slide35.xml" /><Relationship Id="rId37" Type="http://schemas.openxmlformats.org/officeDocument/2006/relationships/slide" Target="slides/slide36.xml" /><Relationship Id="rId38" Type="http://schemas.openxmlformats.org/officeDocument/2006/relationships/slide" Target="slides/slide37.xml" /><Relationship Id="rId39" Type="http://schemas.openxmlformats.org/officeDocument/2006/relationships/slide" Target="slides/slide38.xml" /><Relationship Id="rId40" Type="http://schemas.openxmlformats.org/officeDocument/2006/relationships/slide" Target="slides/slide39.xml" /><Relationship Id="rId41" Type="http://schemas.openxmlformats.org/officeDocument/2006/relationships/slide" Target="slides/slide40.xml" /><Relationship Id="rId42" Type="http://schemas.openxmlformats.org/officeDocument/2006/relationships/slide" Target="slides/slide41.xml" /><Relationship Id="rId43" Type="http://schemas.openxmlformats.org/officeDocument/2006/relationships/slide" Target="slides/slide42.xml" /><Relationship Id="rId44" Type="http://schemas.openxmlformats.org/officeDocument/2006/relationships/slide" Target="slides/slide43.xml" /><Relationship Id="rId45" Type="http://schemas.openxmlformats.org/officeDocument/2006/relationships/slide" Target="slides/slide44.xml" /><Relationship Id="rId46" Type="http://schemas.openxmlformats.org/officeDocument/2006/relationships/slide" Target="slides/slide45.xml" /><Relationship Id="rId47" Type="http://schemas.openxmlformats.org/officeDocument/2006/relationships/slide" Target="slides/slide46.xml" /><Relationship Id="rId48" Type="http://schemas.openxmlformats.org/officeDocument/2006/relationships/slide" Target="slides/slide47.xml" /><Relationship Id="rId49" Type="http://schemas.openxmlformats.org/officeDocument/2006/relationships/slide" Target="slides/slide48.xml" /><Relationship Id="rId50" Type="http://schemas.openxmlformats.org/officeDocument/2006/relationships/slide" Target="slides/slide49.xml" /><Relationship Id="rId51" Type="http://schemas.openxmlformats.org/officeDocument/2006/relationships/slide" Target="slides/slide50.xml" /><Relationship Id="rId52" Type="http://schemas.openxmlformats.org/officeDocument/2006/relationships/slide" Target="slides/slide51.xml" /><Relationship Id="rId53" Type="http://schemas.openxmlformats.org/officeDocument/2006/relationships/slide" Target="slides/slide52.xml" /><Relationship Id="rId54" Type="http://schemas.openxmlformats.org/officeDocument/2006/relationships/slide" Target="slides/slide53.xml" /><Relationship Id="rId55" Type="http://schemas.openxmlformats.org/officeDocument/2006/relationships/slide" Target="slides/slide54.xml" /><Relationship Id="rId56" Type="http://schemas.openxmlformats.org/officeDocument/2006/relationships/slide" Target="slides/slide55.xml" /><Relationship Id="rId57" Type="http://schemas.openxmlformats.org/officeDocument/2006/relationships/slide" Target="slides/slide56.xml" /><Relationship Id="rId58" Type="http://schemas.openxmlformats.org/officeDocument/2006/relationships/slide" Target="slides/slide57.xml" /><Relationship Id="rId59" Type="http://schemas.openxmlformats.org/officeDocument/2006/relationships/slide" Target="slides/slide58.xml" /><Relationship Id="rId60" Type="http://schemas.openxmlformats.org/officeDocument/2006/relationships/slide" Target="slides/slide59.xml" /><Relationship Id="rId61" Type="http://schemas.openxmlformats.org/officeDocument/2006/relationships/slide" Target="slides/slide60.xml" /><Relationship Id="rId62" Type="http://schemas.openxmlformats.org/officeDocument/2006/relationships/slide" Target="slides/slide61.xml" /><Relationship Id="rId63" Type="http://schemas.openxmlformats.org/officeDocument/2006/relationships/slide" Target="slides/slide62.xml" /><Relationship Id="rId65" Type="http://schemas.openxmlformats.org/officeDocument/2006/relationships/viewProps" Target="viewProps.xml" /><Relationship Id="rId64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67" Type="http://schemas.openxmlformats.org/officeDocument/2006/relationships/tableStyles" Target="tableStyles.xml" /><Relationship Id="rId66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.png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2.png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3.png" 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4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4.png" /></Relationships>
</file>

<file path=ppt/slides/_rels/slide3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3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5.png" /></Relationships>
</file>

<file path=ppt/slides/_rels/slide4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4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6.png" /></Relationships>
</file>

<file path=ppt/slides/_rels/slide5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7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7.png" /></Relationships>
</file>

<file path=ppt/slides/_rels/slide58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8.png" /></Relationships>
</file>

<file path=ppt/slides/_rels/slide5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1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9.png" /></Relationships>
</file>

<file path=ppt/slides/_rels/slide6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Nivelul transport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TCP, UDP, TLS, QUIC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Obiective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La finalul cursului, studentul poate: - Explica rolul nivelului transport in arhitectura de retea - Explica mecanismul porturilor si multiplexarea proceselor - Descrie functionarea protocolului TCP - Explica rolul optiunilor TCP (MSS, SACK, window scaling) - Compara TCP si UDP - Intelege rolul TLS/DTLS - Intelege motivatia aparitiei QUIC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Rolul nivelului transport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Identifica un proces specific care comunica in retea</a:t>
            </a:r>
          </a:p>
          <a:p>
            <a:pPr lvl="0"/>
            <a:r>
              <a:rPr/>
              <a:t>Face legatura intre nivelul retea si nivelul aplicatie</a:t>
            </a:r>
          </a:p>
          <a:p>
            <a:pPr lvl="0"/>
            <a:r>
              <a:rPr/>
              <a:t>Poate oferi fiabilitate si control al fluxului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Ce probleme rezolva nivelul transport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Identificarea proceselor (porturi)</a:t>
            </a:r>
          </a:p>
          <a:p>
            <a:pPr lvl="0"/>
            <a:r>
              <a:rPr/>
              <a:t>Multiplexarea comunicatiilor</a:t>
            </a:r>
          </a:p>
          <a:p>
            <a:pPr lvl="0"/>
            <a:r>
              <a:rPr/>
              <a:t>Controlul fluxului de date</a:t>
            </a:r>
          </a:p>
          <a:p>
            <a:pPr lvl="0"/>
            <a:r>
              <a:rPr/>
              <a:t>Fiabilitate (optional, in functie de protocol)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Porturi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Mecanismul fundamental la nivel transport</a:t>
            </a:r>
          </a:p>
          <a:p>
            <a:pPr lvl="0"/>
            <a:r>
              <a:rPr/>
              <a:t>Identifica un capat al comunicatiei</a:t>
            </a:r>
          </a:p>
          <a:p>
            <a:pPr lvl="0"/>
            <a:r>
              <a:rPr/>
              <a:t>Valori intre 0 si 65535 (16 biti)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Porturi: client vs server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Serverul foloseste un port fix</a:t>
            </a:r>
          </a:p>
          <a:p>
            <a:pPr lvl="0"/>
            <a:r>
              <a:rPr/>
              <a:t>Portul identifica serviciul</a:t>
            </a:r>
          </a:p>
          <a:p>
            <a:pPr lvl="0"/>
            <a:r>
              <a:rPr/>
              <a:t>Clientul isi alege un port liber (ephemeral)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Clasificarea porturilor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Porturi well-known: &lt; 1024</a:t>
            </a:r>
          </a:p>
          <a:p>
            <a:pPr lvl="0"/>
            <a:r>
              <a:rPr/>
              <a:t>Porturi neprivilegiate: &gt;= 1024</a:t>
            </a:r>
          </a:p>
          <a:p>
            <a:pPr lvl="0"/>
            <a:r>
              <a:rPr/>
              <a:t>Pot fi folosite liber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Exemple de porturi well-known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80 – HTTP</a:t>
            </a:r>
          </a:p>
          <a:p>
            <a:pPr lvl="0"/>
            <a:r>
              <a:rPr/>
              <a:t>25 – SMTP</a:t>
            </a:r>
          </a:p>
          <a:p>
            <a:pPr lvl="0"/>
            <a:r>
              <a:rPr/>
              <a:t>21 – FTP</a:t>
            </a:r>
          </a:p>
          <a:p>
            <a:pPr lvl="0"/>
            <a:r>
              <a:rPr/>
              <a:t>22 – SSH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Protocoale de nivel transport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TCP (Transmission Control Protocol)</a:t>
            </a:r>
          </a:p>
          <a:p>
            <a:pPr lvl="0"/>
            <a:r>
              <a:rPr/>
              <a:t>UDP (User Datagram Protocol)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TCP vs UDP (idea)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TCP: orientat pe conexiune</a:t>
            </a:r>
          </a:p>
          <a:p>
            <a:pPr lvl="0"/>
            <a:r>
              <a:rPr/>
              <a:t>UDP: fara conexiune</a:t>
            </a:r>
          </a:p>
          <a:p>
            <a:pPr lvl="0"/>
            <a:r>
              <a:rPr/>
              <a:t>Alegerea depinde de cerintele aplicatiei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Protocolul TCP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Orientat pe conexiune</a:t>
            </a:r>
          </a:p>
          <a:p>
            <a:pPr lvl="0"/>
            <a:r>
              <a:rPr/>
              <a:t>Relativ complex</a:t>
            </a:r>
          </a:p>
          <a:p>
            <a:pPr lvl="0"/>
            <a:r>
              <a:rPr/>
              <a:t>Ofera garantii de transmisie</a:t>
            </a:r>
          </a:p>
          <a:p>
            <a:pPr lvl="0"/>
            <a:r>
              <a:rPr/>
              <a:t>Overhead mai mare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Structura generala TCP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Transmite date ca stream</a:t>
            </a:r>
          </a:p>
          <a:p>
            <a:pPr lvl="0"/>
            <a:r>
              <a:rPr/>
              <a:t>Segmenteaza datele</a:t>
            </a:r>
          </a:p>
          <a:p>
            <a:pPr lvl="0"/>
            <a:r>
              <a:rPr/>
              <a:t>Numeroteaza fiecare segment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Header-ul TCP (overview)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/>
            <a:r>
              <a:rPr/>
              <a:t>Contine informatii de control</a:t>
            </a:r>
          </a:p>
          <a:p>
            <a:pPr lvl="0"/>
            <a:r>
              <a:rPr/>
              <a:t>Permite fiabilitate si controlul fluxului</a:t>
            </a:r>
          </a:p>
        </p:txBody>
      </p:sp>
      <p:pic>
        <p:nvPicPr>
          <p:cNvPr descr="assets/images/fig-tcp-header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117600"/>
            <a:ext cx="5105400" cy="2565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TCP: porturi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Source port (16 biti)</a:t>
            </a:r>
          </a:p>
          <a:p>
            <a:pPr lvl="0"/>
            <a:r>
              <a:rPr/>
              <a:t>Destination port (16 biti)</a:t>
            </a:r>
          </a:p>
          <a:p>
            <a:pPr lvl="0"/>
            <a:r>
              <a:rPr/>
              <a:t>Identifica procesele implicate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TCP: numerotarea segmentelor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Sequence number (32 biti)</a:t>
            </a:r>
          </a:p>
          <a:p>
            <a:pPr lvl="0"/>
            <a:r>
              <a:rPr/>
              <a:t>Acknowledgement number (32 biti)</a:t>
            </a:r>
          </a:p>
          <a:p>
            <a:pPr lvl="0"/>
            <a:r>
              <a:rPr/>
              <a:t>Permit detectarea pierderilor si reordonarea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TCP: campuri de control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Data offset</a:t>
            </a:r>
          </a:p>
          <a:p>
            <a:pPr lvl="0"/>
            <a:r>
              <a:rPr/>
              <a:t>Camp rezervat</a:t>
            </a:r>
          </a:p>
          <a:p>
            <a:pPr lvl="0"/>
            <a:r>
              <a:rPr/>
              <a:t>Flag-uri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Flag-uri TCP (1)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SYN – initiere conexiune</a:t>
            </a:r>
          </a:p>
          <a:p>
            <a:pPr lvl="0"/>
            <a:r>
              <a:rPr/>
              <a:t>ACK – confirmare primire</a:t>
            </a:r>
          </a:p>
          <a:p>
            <a:pPr lvl="0"/>
            <a:r>
              <a:rPr/>
              <a:t>FIN – inchidere controlata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Flag-uri TCP (2)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RST – inchidere fortata</a:t>
            </a:r>
          </a:p>
          <a:p>
            <a:pPr lvl="0"/>
            <a:r>
              <a:rPr/>
              <a:t>PSH – livrare imediata</a:t>
            </a:r>
          </a:p>
          <a:p>
            <a:pPr lvl="0"/>
            <a:r>
              <a:rPr/>
              <a:t>URG – date urgente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Flag-uri TCP (3)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ECE, CWR – controlul congestiei</a:t>
            </a:r>
          </a:p>
          <a:p>
            <a:pPr lvl="0"/>
            <a:r>
              <a:rPr/>
              <a:t>Congestia apare cand reteaua este supraincarcata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TCP: controlul fluxului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Window (16 biti)</a:t>
            </a:r>
          </a:p>
          <a:p>
            <a:pPr lvl="0"/>
            <a:r>
              <a:rPr/>
              <a:t>Specifica cat poate primi receptorul</a:t>
            </a:r>
          </a:p>
          <a:p>
            <a:pPr lvl="0"/>
            <a:r>
              <a:rPr/>
              <a:t>Ajustabil dinamic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TCP: integritatea datelor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Checksum pe header si date</a:t>
            </a:r>
          </a:p>
          <a:p>
            <a:pPr lvl="0"/>
            <a:r>
              <a:rPr/>
              <a:t>Include pseudo-header IP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Optiuni TCP – de ce exista?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TCP este extensibil</a:t>
            </a:r>
          </a:p>
          <a:p>
            <a:pPr lvl="0"/>
            <a:r>
              <a:rPr/>
              <a:t>Optiunile permit adaptarea la retele moderne</a:t>
            </a:r>
          </a:p>
          <a:p>
            <a:pPr lvl="0"/>
            <a:r>
              <a:rPr/>
              <a:t>Negociate in handshake (SYN)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Structura optiunilor TCP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Kind (1 byte)</a:t>
            </a:r>
          </a:p>
          <a:p>
            <a:pPr lvl="0"/>
            <a:r>
              <a:rPr/>
              <a:t>Length (1 byte)</a:t>
            </a:r>
          </a:p>
          <a:p>
            <a:pPr lvl="0"/>
            <a:r>
              <a:rPr/>
              <a:t>Data (parametri specifici)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MSS – Maximum Segment Size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Dimensiunea maxima a datelor utile</a:t>
            </a:r>
          </a:p>
          <a:p>
            <a:pPr lvl="0"/>
            <a:r>
              <a:rPr/>
              <a:t>MSS + header = MTU</a:t>
            </a:r>
          </a:p>
          <a:p>
            <a:pPr lvl="0"/>
            <a:r>
              <a:rPr/>
              <a:t>Previne fragmentarea IP</a:t>
            </a:r>
          </a:p>
          <a:p>
            <a:pPr lvl="0"/>
            <a:r>
              <a:rPr/>
              <a:t>Transmis doar in SYN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Selective Acknowledgement (SACK)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/>
            <a:r>
              <a:rPr/>
              <a:t>TCP clasic confirma cumulativ</a:t>
            </a:r>
          </a:p>
          <a:p>
            <a:pPr lvl="0"/>
            <a:r>
              <a:rPr/>
              <a:t>SACK confirma intervale de date</a:t>
            </a:r>
          </a:p>
          <a:p>
            <a:pPr lvl="0"/>
            <a:r>
              <a:rPr/>
              <a:t>Reduce retransmisiile inutile</a:t>
            </a:r>
          </a:p>
          <a:p>
            <a:pPr lvl="0"/>
            <a:r>
              <a:rPr/>
              <a:t>Necesita negociere (SACK permitted)</a:t>
            </a:r>
          </a:p>
        </p:txBody>
      </p:sp>
      <p:pic>
        <p:nvPicPr>
          <p:cNvPr descr="assets/images/fig-tcp-sack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673100"/>
            <a:ext cx="5105400" cy="3429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Window scaling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Campul window este limitat la 16 biti</a:t>
            </a:r>
          </a:p>
          <a:p>
            <a:pPr lvl="0"/>
            <a:r>
              <a:rPr/>
              <a:t>Scaling introduce un factor de multiplicare</a:t>
            </a:r>
          </a:p>
          <a:p>
            <a:pPr lvl="0"/>
            <a:r>
              <a:rPr/>
              <a:t>Esential pentru retele rapide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TCP timestamps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TSval si TSecr</a:t>
            </a:r>
          </a:p>
          <a:p>
            <a:pPr lvl="0"/>
            <a:r>
              <a:rPr/>
              <a:t>Estimare RTT</a:t>
            </a:r>
          </a:p>
          <a:p>
            <a:pPr lvl="0"/>
            <a:r>
              <a:rPr/>
              <a:t>Detectie segmente vechi (PAWS)</a:t>
            </a: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TCP Fast Open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Permite trimiterea de date in SYN</a:t>
            </a:r>
          </a:p>
          <a:p>
            <a:pPr lvl="0"/>
            <a:r>
              <a:rPr/>
              <a:t>Reduce latența de conectare</a:t>
            </a:r>
          </a:p>
          <a:p>
            <a:pPr lvl="0"/>
            <a:r>
              <a:rPr/>
              <a:t>Necesita suport bilateral</a:t>
            </a:r>
          </a:p>
        </p:txBody>
      </p:sp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NOP si End of Option 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NOP: aliniere si delimitare</a:t>
            </a:r>
          </a:p>
          <a:p>
            <a:pPr lvl="0"/>
            <a:r>
              <a:rPr/>
              <a:t>End of list: sfarsitul optiunilor</a:t>
            </a:r>
          </a:p>
        </p:txBody>
      </p:sp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Mecanisme TCP (overview)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Stabilirea conexiunii</a:t>
            </a:r>
          </a:p>
          <a:p>
            <a:pPr lvl="0"/>
            <a:r>
              <a:rPr/>
              <a:t>Terminarea conexiunii</a:t>
            </a:r>
          </a:p>
          <a:p>
            <a:pPr lvl="0"/>
            <a:r>
              <a:rPr/>
              <a:t>Fiabilitate</a:t>
            </a:r>
          </a:p>
          <a:p>
            <a:pPr lvl="0"/>
            <a:r>
              <a:rPr/>
              <a:t>Controlul fluxului</a:t>
            </a:r>
          </a:p>
        </p:txBody>
      </p:sp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Stabilirea conexiunii TCP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/>
            <a:r>
              <a:rPr/>
              <a:t>Three-way handshake</a:t>
            </a:r>
          </a:p>
          <a:p>
            <a:pPr lvl="0"/>
            <a:r>
              <a:rPr/>
              <a:t>Schimbul numerelor initiale de secventa</a:t>
            </a:r>
          </a:p>
        </p:txBody>
      </p:sp>
      <p:pic>
        <p:nvPicPr>
          <p:cNvPr descr="assets/images/fig-tcp-handshak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21200" y="203200"/>
            <a:ext cx="3187700" cy="4381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TCP Fast Open (context)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Reduce handshake-ul clasic</a:t>
            </a:r>
          </a:p>
          <a:p>
            <a:pPr lvl="0"/>
            <a:r>
              <a:rPr/>
              <a:t>Datele pot fi trimise mai devreme</a:t>
            </a:r>
          </a:p>
        </p:txBody>
      </p:sp>
    </p:spTree>
  </p:cSld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Terminarea conexiunii TCP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/>
            <a:r>
              <a:rPr/>
              <a:t>Inchidere controlata (4 segmente)</a:t>
            </a:r>
          </a:p>
          <a:p>
            <a:pPr lvl="0"/>
            <a:r>
              <a:rPr/>
              <a:t>Inchidere fortata (RST)</a:t>
            </a:r>
          </a:p>
        </p:txBody>
      </p:sp>
      <p:pic>
        <p:nvPicPr>
          <p:cNvPr descr="assets/images/fig-tcp-clos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914900" y="203200"/>
            <a:ext cx="2413000" cy="4381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Fiabilitate in TCP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Fiecare segment este confirmat</a:t>
            </a:r>
          </a:p>
          <a:p>
            <a:pPr lvl="0"/>
            <a:r>
              <a:rPr/>
              <a:t>Retransmisii la pierdere</a:t>
            </a:r>
          </a:p>
          <a:p>
            <a:pPr lvl="0"/>
            <a:r>
              <a:rPr/>
              <a:t>Reordonare pe baza numerelor de secventa</a:t>
            </a:r>
          </a:p>
        </p:txBody>
      </p:sp>
    </p:spTree>
  </p:cSld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Controlul fluxului (detaliere)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Window indica capacitatea receptorului</a:t>
            </a:r>
          </a:p>
          <a:p>
            <a:pPr lvl="0"/>
            <a:r>
              <a:rPr/>
              <a:t>Se poate modifica pe parcursul conexiunii</a:t>
            </a:r>
          </a:p>
        </p:txBody>
      </p:sp>
    </p:spTree>
  </p:cSld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Stari ale unui socket TCP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Reflecta starea conexiunii</a:t>
            </a:r>
          </a:p>
          <a:p>
            <a:pPr lvl="0"/>
            <a:r>
              <a:rPr/>
              <a:t>Vizibile la nivel OS</a:t>
            </a:r>
          </a:p>
        </p:txBody>
      </p:sp>
    </p:spTree>
  </p:cSld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Stari TCP (1)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CLOSED</a:t>
            </a:r>
          </a:p>
          <a:p>
            <a:pPr lvl="0"/>
            <a:r>
              <a:rPr/>
              <a:t>LISTEN</a:t>
            </a:r>
          </a:p>
          <a:p>
            <a:pPr lvl="0"/>
            <a:r>
              <a:rPr/>
              <a:t>ESTABLISHED</a:t>
            </a:r>
          </a:p>
          <a:p>
            <a:pPr lvl="0"/>
            <a:r>
              <a:rPr/>
              <a:t>FIN-WAIT-1</a:t>
            </a:r>
          </a:p>
        </p:txBody>
      </p:sp>
    </p:spTree>
  </p:cSld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Stari TCP (2)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FIN-WAIT-2</a:t>
            </a:r>
          </a:p>
          <a:p>
            <a:pPr lvl="0"/>
            <a:r>
              <a:rPr/>
              <a:t>CLOSE-WAIT</a:t>
            </a:r>
          </a:p>
          <a:p>
            <a:pPr lvl="0"/>
            <a:r>
              <a:rPr/>
              <a:t>LAST-ACK</a:t>
            </a:r>
          </a:p>
          <a:p>
            <a:pPr lvl="0"/>
            <a:r>
              <a:rPr/>
              <a:t>CLOSING</a:t>
            </a:r>
          </a:p>
          <a:p>
            <a:pPr lvl="0"/>
            <a:r>
              <a:rPr/>
              <a:t>TIME-WAIT</a:t>
            </a:r>
          </a:p>
        </p:txBody>
      </p:sp>
    </p:spTree>
  </p:cSld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Protocoale bazate pe TCP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HTTP (1.1, 2)</a:t>
            </a:r>
          </a:p>
          <a:p>
            <a:pPr lvl="0"/>
            <a:r>
              <a:rPr/>
              <a:t>FTP</a:t>
            </a:r>
          </a:p>
          <a:p>
            <a:pPr lvl="0"/>
            <a:r>
              <a:rPr/>
              <a:t>SMTP</a:t>
            </a:r>
          </a:p>
          <a:p>
            <a:pPr lvl="0"/>
            <a:r>
              <a:rPr/>
              <a:t>Alte protocoale de aplicatie</a:t>
            </a:r>
          </a:p>
        </p:txBody>
      </p:sp>
    </p:spTree>
  </p:cSld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Protocolul UDP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Fara conexiune</a:t>
            </a:r>
          </a:p>
          <a:p>
            <a:pPr lvl="0"/>
            <a:r>
              <a:rPr/>
              <a:t>Simplu</a:t>
            </a:r>
          </a:p>
          <a:p>
            <a:pPr lvl="0"/>
            <a:r>
              <a:rPr/>
              <a:t>Rapid</a:t>
            </a:r>
          </a:p>
          <a:p>
            <a:pPr lvl="0"/>
            <a:r>
              <a:rPr/>
              <a:t>Overhead minim</a:t>
            </a:r>
          </a:p>
        </p:txBody>
      </p:sp>
    </p:spTree>
  </p:cSld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UDP: unitatea de transfer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Datagrama</a:t>
            </a:r>
          </a:p>
          <a:p>
            <a:pPr lvl="0"/>
            <a:r>
              <a:rPr/>
              <a:t>Mesaje independente</a:t>
            </a:r>
          </a:p>
        </p:txBody>
      </p:sp>
    </p:spTree>
  </p:cSld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Header-ul UDP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/>
            <a:r>
              <a:rPr/>
              <a:t>Source port</a:t>
            </a:r>
          </a:p>
          <a:p>
            <a:pPr lvl="0"/>
            <a:r>
              <a:rPr/>
              <a:t>Destination port</a:t>
            </a:r>
          </a:p>
          <a:p>
            <a:pPr lvl="0"/>
            <a:r>
              <a:rPr/>
              <a:t>Length</a:t>
            </a:r>
          </a:p>
          <a:p>
            <a:pPr lvl="0"/>
            <a:r>
              <a:rPr/>
              <a:t>Checksum</a:t>
            </a:r>
          </a:p>
        </p:txBody>
      </p:sp>
      <p:pic>
        <p:nvPicPr>
          <p:cNvPr descr="assets/images/fig-udp-header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355600"/>
            <a:ext cx="5105400" cy="4076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Checksum UDP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Valideaza integritatea datelor</a:t>
            </a:r>
          </a:p>
          <a:p>
            <a:pPr lvl="0"/>
            <a:r>
              <a:rPr/>
              <a:t>Optional in IPv4</a:t>
            </a:r>
          </a:p>
          <a:p>
            <a:pPr lvl="0"/>
            <a:r>
              <a:rPr/>
              <a:t>Obligatoriu in IPv6</a:t>
            </a:r>
          </a:p>
        </p:txBody>
      </p:sp>
    </p:spTree>
  </p:cSld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Protocoale bazate pe UDP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DNS</a:t>
            </a:r>
          </a:p>
          <a:p>
            <a:pPr lvl="0"/>
            <a:r>
              <a:rPr/>
              <a:t>DHCP</a:t>
            </a:r>
          </a:p>
          <a:p>
            <a:pPr lvl="0"/>
            <a:r>
              <a:rPr/>
              <a:t>TFTP</a:t>
            </a:r>
          </a:p>
          <a:p>
            <a:pPr lvl="0"/>
            <a:r>
              <a:rPr/>
              <a:t>SNMP</a:t>
            </a:r>
          </a:p>
        </p:txBody>
      </p:sp>
    </p:spTree>
  </p:cSld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TCP vs UDP (comparatie)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TCP: fiabil, ordonat, stream</a:t>
            </a:r>
          </a:p>
          <a:p>
            <a:pPr lvl="0"/>
            <a:r>
              <a:rPr/>
              <a:t>UDP: rapid, neordonat, mesaje</a:t>
            </a:r>
          </a:p>
          <a:p>
            <a:pPr lvl="0"/>
            <a:r>
              <a:rPr/>
              <a:t>Alegerea depinde de aplicatie</a:t>
            </a:r>
          </a:p>
        </p:txBody>
      </p:sp>
    </p:spTree>
  </p:cSld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UDP vs TCP sub pierderi (context)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In retele reale pot aparea pierderi de pachete</a:t>
            </a:r>
          </a:p>
          <a:p>
            <a:pPr lvl="0"/>
            <a:r>
              <a:rPr/>
              <a:t>UDP nu ofera mecanisme de corectie</a:t>
            </a:r>
          </a:p>
          <a:p>
            <a:pPr lvl="0"/>
            <a:r>
              <a:rPr/>
              <a:t>TCP retransmite automat segmentele pierdute</a:t>
            </a:r>
          </a:p>
          <a:p>
            <a:pPr lvl="0"/>
            <a:r>
              <a:rPr/>
              <a:t>Diferenta este vizibila la nivel aplicatie</a:t>
            </a:r>
          </a:p>
        </p:txBody>
      </p:sp>
    </p:spTree>
  </p:cSld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Scenariu: UDP vs TCP cu pierderi in Mininet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Folosim Mininet pentru a simula o retea cu pierderi</a:t>
            </a:r>
          </a:p>
          <a:p>
            <a:pPr lvl="0"/>
            <a:r>
              <a:rPr/>
              <a:t>Introducem loss artificial pe link-uri</a:t>
            </a:r>
          </a:p>
          <a:p>
            <a:pPr lvl="0"/>
            <a:r>
              <a:rPr/>
              <a:t>Comparam comportamentul aplicatiilor UDP si TCP</a:t>
            </a:r>
          </a:p>
          <a:p>
            <a:pPr lvl="0" indent="0" marL="0">
              <a:buNone/>
            </a:pPr>
            <a:r>
              <a:rPr/>
              <a:t>Topologie: - h1 — s1 — h2 - loss configurabil pe link-uri</a:t>
            </a:r>
          </a:p>
        </p:txBody>
      </p:sp>
    </p:spTree>
  </p:cSld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Ce urmarim in scenariu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UDP:</a:t>
            </a:r>
          </a:p>
          <a:p>
            <a:pPr lvl="1"/>
            <a:r>
              <a:rPr/>
              <a:t>nu toate mesajele ajung la destinatie</a:t>
            </a:r>
          </a:p>
          <a:p>
            <a:pPr lvl="1"/>
            <a:r>
              <a:rPr/>
              <a:t>aplicatia observa lipsuri</a:t>
            </a:r>
          </a:p>
          <a:p>
            <a:pPr lvl="0"/>
            <a:r>
              <a:rPr/>
              <a:t>TCP:</a:t>
            </a:r>
          </a:p>
          <a:p>
            <a:pPr lvl="1"/>
            <a:r>
              <a:rPr/>
              <a:t>aplicatia primeste stream complet</a:t>
            </a:r>
          </a:p>
          <a:p>
            <a:pPr lvl="1"/>
            <a:r>
              <a:rPr/>
              <a:t>retransmisiile sunt transparente</a:t>
            </a:r>
          </a:p>
        </p:txBody>
      </p:sp>
    </p:spTree>
  </p:cSld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De ce Mininet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Este deja folosit in cursurile anterioare</a:t>
            </a:r>
          </a:p>
          <a:p>
            <a:pPr lvl="0"/>
            <a:r>
              <a:rPr/>
              <a:t>Permite control fin al conditiilor de retea</a:t>
            </a:r>
          </a:p>
          <a:p>
            <a:pPr lvl="0"/>
            <a:r>
              <a:rPr/>
              <a:t>Evitam introducerea unui tool nou</a:t>
            </a:r>
          </a:p>
          <a:p>
            <a:pPr lvl="0"/>
            <a:r>
              <a:rPr/>
              <a:t>Simulam pierderi fara a modifica aplicatiile</a:t>
            </a:r>
          </a:p>
        </p:txBody>
      </p:sp>
    </p:spTree>
  </p:cSld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Rulare scenariu UDP vs TCP (Mininet)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Se porneste un receiver pe h2</a:t>
            </a:r>
          </a:p>
          <a:p>
            <a:pPr lvl="0"/>
            <a:r>
              <a:rPr/>
              <a:t>Se trimit mesaje de pe h1</a:t>
            </a:r>
          </a:p>
          <a:p>
            <a:pPr lvl="0"/>
            <a:r>
              <a:rPr/>
              <a:t>Se repeta testul pentru UDP si TCP</a:t>
            </a:r>
          </a:p>
          <a:p>
            <a:pPr lvl="0"/>
            <a:r>
              <a:rPr/>
              <a:t>Se observa diferenta in output</a:t>
            </a:r>
          </a:p>
          <a:p>
            <a:pPr lvl="0" indent="0" marL="0">
              <a:buNone/>
            </a:pPr>
            <a:r>
              <a:rPr>
                <a:latin typeface="Courier"/>
              </a:rPr>
              <a:t>[SCENARIO] c8-assets/scenario-udp-vs-tcp-loss-mininet/</a:t>
            </a:r>
          </a:p>
        </p:txBody>
      </p:sp>
    </p:spTree>
  </p:cSld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De ce este nevoie de TLS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TCP si UDP transmit date in clar</a:t>
            </a:r>
          </a:p>
          <a:p>
            <a:pPr lvl="0"/>
            <a:r>
              <a:rPr/>
              <a:t>Atacatorul poate intercepta traficul</a:t>
            </a:r>
          </a:p>
        </p:txBody>
      </p:sp>
    </p:spTree>
  </p:cSld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TLS si DTLS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TLS: peste TCP</a:t>
            </a:r>
          </a:p>
          <a:p>
            <a:pPr lvl="0"/>
            <a:r>
              <a:rPr/>
              <a:t>DTLS: peste UDP</a:t>
            </a:r>
          </a:p>
          <a:p>
            <a:pPr lvl="0"/>
            <a:r>
              <a:rPr/>
              <a:t>Ofera criptare si integritate</a:t>
            </a:r>
          </a:p>
        </p:txBody>
      </p:sp>
    </p:spTree>
  </p:cSld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TLS in stack-ul TCP/IP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/>
            <a:r>
              <a:rPr/>
              <a:t>Ruleaza intre transport si aplicatie</a:t>
            </a:r>
          </a:p>
        </p:txBody>
      </p:sp>
      <p:pic>
        <p:nvPicPr>
          <p:cNvPr descr="assets/images/fig-tls-stack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473700" y="203200"/>
            <a:ext cx="1282700" cy="4381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TLS – concepte de baza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Schimb securizat de chei</a:t>
            </a:r>
          </a:p>
          <a:p>
            <a:pPr lvl="0"/>
            <a:r>
              <a:rPr/>
              <a:t>Criptare simetrica pentru date</a:t>
            </a:r>
          </a:p>
        </p:txBody>
      </p:sp>
    </p:spTree>
  </p:cSld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Protocoale TLS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Handshake</a:t>
            </a:r>
          </a:p>
          <a:p>
            <a:pPr lvl="0"/>
            <a:r>
              <a:rPr/>
              <a:t>Cipher negotiation</a:t>
            </a:r>
          </a:p>
          <a:p>
            <a:pPr lvl="0"/>
            <a:r>
              <a:rPr/>
              <a:t>Alerts</a:t>
            </a:r>
          </a:p>
          <a:p>
            <a:pPr lvl="0"/>
            <a:r>
              <a:rPr/>
              <a:t>Data</a:t>
            </a:r>
          </a:p>
        </p:txBody>
      </p:sp>
    </p:spTree>
  </p:cSld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TLS 1.3 (idea)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/>
            <a:r>
              <a:rPr/>
              <a:t>Handshake simplificat</a:t>
            </a:r>
          </a:p>
          <a:p>
            <a:pPr lvl="0"/>
            <a:r>
              <a:rPr/>
              <a:t>Latența redusa</a:t>
            </a:r>
          </a:p>
          <a:p>
            <a:pPr lvl="0"/>
            <a:r>
              <a:rPr/>
              <a:t>Securitate imbunatatita</a:t>
            </a:r>
          </a:p>
        </p:txBody>
      </p:sp>
      <p:pic>
        <p:nvPicPr>
          <p:cNvPr descr="assets/images/fig-tls-13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635500" y="203200"/>
            <a:ext cx="2959100" cy="4381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Diffie-Hellman (idea)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/>
            <a:r>
              <a:rPr/>
              <a:t>Schimb de chei pe canal nesigur</a:t>
            </a:r>
          </a:p>
          <a:p>
            <a:pPr lvl="0"/>
            <a:r>
              <a:rPr/>
              <a:t>Baza criptografiei moderne</a:t>
            </a:r>
          </a:p>
        </p:txBody>
      </p:sp>
      <p:pic>
        <p:nvPicPr>
          <p:cNvPr descr="assets/images/fig-diffie-hellman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736600"/>
            <a:ext cx="5105400" cy="3327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Protocol modern de nivel transport</a:t>
            </a:r>
          </a:p>
          <a:p>
            <a:pPr lvl="0"/>
            <a:r>
              <a:rPr/>
              <a:t>Ruleaza peste UDP</a:t>
            </a:r>
          </a:p>
          <a:p>
            <a:pPr lvl="0"/>
            <a:r>
              <a:rPr/>
              <a:t>Integreaza securitatea</a:t>
            </a:r>
          </a:p>
        </p:txBody>
      </p:sp>
    </p:spTree>
  </p:cSld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De ce QUIC?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Reduce latența</a:t>
            </a:r>
          </a:p>
          <a:p>
            <a:pPr lvl="0"/>
            <a:r>
              <a:rPr/>
              <a:t>Evita limitarile TCP clasice</a:t>
            </a:r>
          </a:p>
          <a:p>
            <a:pPr lvl="0"/>
            <a:r>
              <a:rPr/>
              <a:t>Baza HTTP/3</a:t>
            </a:r>
          </a:p>
        </p:txBody>
      </p:sp>
    </p:spTree>
  </p:cSld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Stabilirea unei conexiuni QUIC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/>
            <a:r>
              <a:rPr/>
              <a:t>0-RTT sau 1-RTT</a:t>
            </a:r>
          </a:p>
          <a:p>
            <a:pPr lvl="0"/>
            <a:r>
              <a:rPr/>
              <a:t>Securitate integrata</a:t>
            </a:r>
          </a:p>
        </p:txBody>
      </p:sp>
      <p:pic>
        <p:nvPicPr>
          <p:cNvPr descr="assets/images/fig-quic-handshak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013200" y="203200"/>
            <a:ext cx="4229100" cy="4381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Recapitulare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Nivelul transport conecteaza rețeaua cu aplicatia</a:t>
            </a:r>
          </a:p>
          <a:p>
            <a:pPr lvl="0"/>
            <a:r>
              <a:rPr/>
              <a:t>TCP: fiabil, complex</a:t>
            </a:r>
          </a:p>
          <a:p>
            <a:pPr lvl="0"/>
            <a:r>
              <a:rPr/>
              <a:t>UDP: rapid, simplu</a:t>
            </a:r>
          </a:p>
          <a:p>
            <a:pPr lvl="0"/>
            <a:r>
              <a:rPr/>
              <a:t>TLS securizeaza transportul</a:t>
            </a:r>
          </a:p>
          <a:p>
            <a:pPr lvl="0"/>
            <a:r>
              <a:rPr/>
              <a:t>QUIC reprezinta evolutia moderna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2026-04-16T16:20:52Z</dcterms:created>
  <dcterms:modified xsi:type="dcterms:W3CDTF">2026-04-16T16:20:52Z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