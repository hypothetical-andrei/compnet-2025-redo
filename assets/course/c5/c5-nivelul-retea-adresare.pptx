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_rels/slide26.xml.rels" ContentType="application/vnd.openxmlformats-package.relationships+xml"/>
  <Override PartName="/ppt/slides/_rels/slide9.xml.rels" ContentType="application/vnd.openxmlformats-package.relationships+xml"/>
  <Override PartName="/ppt/slides/_rels/slide14.xml.rels" ContentType="application/vnd.openxmlformats-package.relationships+xml"/>
  <Override PartName="/ppt/slides/_rels/slide32.xml.rels" ContentType="application/vnd.openxmlformats-package.relationships+xml"/>
  <Override PartName="/ppt/slides/_rels/slide31.xml.rels" ContentType="application/vnd.openxmlformats-package.relationships+xml"/>
  <Override PartName="/ppt/slides/_rels/slide29.xml.rels" ContentType="application/vnd.openxmlformats-package.relationships+xml"/>
  <Override PartName="/ppt/slides/_rels/slide5.xml.rels" ContentType="application/vnd.openxmlformats-package.relationships+xml"/>
  <Override PartName="/ppt/slides/_rels/slide22.xml.rels" ContentType="application/vnd.openxmlformats-package.relationships+xml"/>
  <Override PartName="/ppt/slides/_rels/slide19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30.xml.rels" ContentType="application/vnd.openxmlformats-package.relationships+xml"/>
  <Override PartName="/ppt/slides/_rels/slide28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27.xml.rels" ContentType="application/vnd.openxmlformats-package.relationships+xml"/>
  <Override PartName="/ppt/slides/_rels/slide18.xml.rels" ContentType="application/vnd.openxmlformats-package.relationships+xml"/>
  <Override PartName="/ppt/slides/_rels/slide11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25.xml.rels" ContentType="application/vnd.openxmlformats-package.relationships+xml"/>
  <Override PartName="/ppt/slides/_rels/slide2.xml.rels" ContentType="application/vnd.openxmlformats-package.relationships+xml"/>
  <Override PartName="/ppt/slides/_rels/slide16.xml.rels" ContentType="application/vnd.openxmlformats-package.relationships+xml"/>
  <Override PartName="/ppt/slides/_rels/slide1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15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slide29.xml" ContentType="application/vnd.openxmlformats-officedocument.presentationml.slide+xml"/>
  <Override PartName="/ppt/slides/slide28.xml" ContentType="application/vnd.openxmlformats-officedocument.presentationml.slide+xml"/>
  <Override PartName="/ppt/slides/slide27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5.xml" ContentType="application/vnd.openxmlformats-officedocument.presentationml.slide+xml"/>
  <Override PartName="/ppt/slides/slide13.xml" ContentType="application/vnd.openxmlformats-officedocument.presentationml.slide+xml"/>
  <Override PartName="/ppt/slides/slide25.xml" ContentType="application/vnd.openxmlformats-officedocument.presentationml.slide+xml"/>
  <Override PartName="/ppt/slides/slide30.xml" ContentType="application/vnd.openxmlformats-officedocument.presentationml.slide+xml"/>
  <Override PartName="/ppt/slides/slide12.xml" ContentType="application/vnd.openxmlformats-officedocument.presentationml.slide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11.xml" ContentType="application/vnd.openxmlformats-officedocument.presentationml.slide+xml"/>
  <Override PartName="/ppt/slides/slide3.xml" ContentType="application/vnd.openxmlformats-officedocument.presentationml.slide+xml"/>
  <Override PartName="/ppt/slides/slide9.xml" ContentType="application/vnd.openxmlformats-officedocument.presentationml.slid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8.xml" ContentType="application/vnd.openxmlformats-officedocument.presentationml.slide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15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slides/slide26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  <p:sldId id="276" r:id="rId33"/>
    <p:sldId id="277" r:id="rId34"/>
    <p:sldId id="278" r:id="rId35"/>
    <p:sldId id="279" r:id="rId36"/>
    <p:sldId id="280" r:id="rId37"/>
    <p:sldId id="281" r:id="rId38"/>
    <p:sldId id="282" r:id="rId39"/>
    <p:sldId id="283" r:id="rId40"/>
    <p:sldId id="284" r:id="rId41"/>
    <p:sldId id="285" r:id="rId42"/>
    <p:sldId id="286" r:id="rId43"/>
    <p:sldId id="287" r:id="rId44"/>
  </p:sldIdLst>
  <p:sldSz cx="9144000" cy="51435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Relationship Id="rId39" Type="http://schemas.openxmlformats.org/officeDocument/2006/relationships/slide" Target="slides/slide27.xml"/><Relationship Id="rId40" Type="http://schemas.openxmlformats.org/officeDocument/2006/relationships/slide" Target="slides/slide28.xml"/><Relationship Id="rId41" Type="http://schemas.openxmlformats.org/officeDocument/2006/relationships/slide" Target="slides/slide29.xml"/><Relationship Id="rId42" Type="http://schemas.openxmlformats.org/officeDocument/2006/relationships/slide" Target="slides/slide30.xml"/><Relationship Id="rId43" Type="http://schemas.openxmlformats.org/officeDocument/2006/relationships/slide" Target="slides/slide31.xml"/><Relationship Id="rId44" Type="http://schemas.openxmlformats.org/officeDocument/2006/relationships/slide" Target="slides/slide32.xml"/><Relationship Id="rId4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F61E64F-1948-46B5-AB29-5E2327E4CAA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C5998D31-55F1-4295-B694-E9A129737C3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6FAFAEC0-228B-4AC7-A561-9D941DFE352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152F0CEF-32CD-46C9-A064-9848232C7FC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E466D906-C015-4471-B5F5-892CA485DDC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4015800" cy="339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4674240" y="1200240"/>
            <a:ext cx="4015800" cy="339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73F45515-DC97-4749-AC72-3822490E3C4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DD679B17-88DB-4DF2-9099-37B50380701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DB8BBCA4-66DB-4580-909D-259A269FF41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823E7740-23CC-40FA-849D-484561B0CD1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258AEC81-777F-4F00-91BE-8347123BBE2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6067E42C-655E-4A25-B9A1-66FCCF0854D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85800" y="1597680"/>
            <a:ext cx="7772040" cy="1102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343080">
              <a:lnSpc>
                <a:spcPct val="100000"/>
              </a:lnSpc>
              <a:buNone/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 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4767120"/>
            <a:ext cx="289512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 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74BE7A9-D95D-4581-89BA-6F84E79AB127}" type="slidenum"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2</a:t>
            </a:fld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343080">
              <a:lnSpc>
                <a:spcPct val="100000"/>
              </a:lnSpc>
              <a:buNone/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685800" indent="-343080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1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100" spc="-1" strike="noStrike">
              <a:solidFill>
                <a:schemeClr val="dk1"/>
              </a:solidFill>
              <a:latin typeface="Calibri"/>
            </a:endParaRPr>
          </a:p>
          <a:p>
            <a:pPr lvl="2" marL="1028880" indent="-343080" defTabSz="3430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371600" indent="-343080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500" spc="-1" strike="noStrike">
              <a:solidFill>
                <a:schemeClr val="dk1"/>
              </a:solidFill>
              <a:latin typeface="Calibri"/>
            </a:endParaRPr>
          </a:p>
          <a:p>
            <a:pPr lvl="4" marL="1714680" indent="-343080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5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4767120"/>
            <a:ext cx="289512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04C9D2A-0DBC-4927-A427-4EC21A7D5E11}" type="slidenum"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05920"/>
            <a:ext cx="2057040" cy="438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343080">
              <a:lnSpc>
                <a:spcPct val="100000"/>
              </a:lnSpc>
              <a:buNone/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05920"/>
            <a:ext cx="6019560" cy="438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685800" indent="-343080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1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100" spc="-1" strike="noStrike">
              <a:solidFill>
                <a:schemeClr val="dk1"/>
              </a:solidFill>
              <a:latin typeface="Calibri"/>
            </a:endParaRPr>
          </a:p>
          <a:p>
            <a:pPr lvl="2" marL="1028880" indent="-343080" defTabSz="3430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371600" indent="-343080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500" spc="-1" strike="noStrike">
              <a:solidFill>
                <a:schemeClr val="dk1"/>
              </a:solidFill>
              <a:latin typeface="Calibri"/>
            </a:endParaRPr>
          </a:p>
          <a:p>
            <a:pPr lvl="4" marL="1714680" indent="-343080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5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4767120"/>
            <a:ext cx="289512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AFFF14B-5A94-4402-9FEB-AFCA5CEB043A}" type="slidenum"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343080">
              <a:lnSpc>
                <a:spcPct val="100000"/>
              </a:lnSpc>
              <a:buNone/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685800" indent="-343080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1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100" spc="-1" strike="noStrike">
              <a:solidFill>
                <a:schemeClr val="dk1"/>
              </a:solidFill>
              <a:latin typeface="Calibri"/>
            </a:endParaRPr>
          </a:p>
          <a:p>
            <a:pPr lvl="2" marL="1028880" indent="-343080" defTabSz="3430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371600" indent="-343080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500" spc="-1" strike="noStrike">
              <a:solidFill>
                <a:schemeClr val="dk1"/>
              </a:solidFill>
              <a:latin typeface="Calibri"/>
            </a:endParaRPr>
          </a:p>
          <a:p>
            <a:pPr lvl="4" marL="1714680" indent="-343080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5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4767120"/>
            <a:ext cx="289512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E1EC840-AD38-4578-8007-D9B316DA6AE6}" type="slidenum"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722160" y="3305160"/>
            <a:ext cx="7772040" cy="102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343080">
              <a:lnSpc>
                <a:spcPct val="100000"/>
              </a:lnSpc>
              <a:buNone/>
            </a:pPr>
            <a:r>
              <a:rPr b="1" lang="en-US" sz="3000" spc="-1" strike="noStrike" cap="all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3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722160" y="2180160"/>
            <a:ext cx="7772040" cy="1124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343080">
              <a:lnSpc>
                <a:spcPct val="100000"/>
              </a:lnSpc>
              <a:spcBef>
                <a:spcPts val="300"/>
              </a:spcBef>
              <a:buNone/>
              <a:tabLst>
                <a:tab algn="l" pos="0"/>
              </a:tabLst>
            </a:pPr>
            <a:r>
              <a:rPr b="0" lang="en-US" sz="15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b="0" lang="en-US" sz="15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4767120"/>
            <a:ext cx="289512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1D18141-75C5-471F-BD5C-66675390D7E2}" type="slidenum"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343080">
              <a:lnSpc>
                <a:spcPct val="100000"/>
              </a:lnSpc>
              <a:buNone/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200240"/>
            <a:ext cx="403812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1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100" spc="-1" strike="noStrike">
              <a:solidFill>
                <a:schemeClr val="dk1"/>
              </a:solidFill>
              <a:latin typeface="Calibri"/>
            </a:endParaRPr>
          </a:p>
          <a:p>
            <a:pPr lvl="1" marL="685800" indent="-343080" defTabSz="3430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2" marL="1028880" indent="-343080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500" spc="-1" strike="noStrike">
              <a:solidFill>
                <a:schemeClr val="dk1"/>
              </a:solidFill>
              <a:latin typeface="Calibri"/>
            </a:endParaRPr>
          </a:p>
          <a:p>
            <a:pPr lvl="3" marL="1371600" indent="-343080" defTabSz="34308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35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350" spc="-1" strike="noStrike">
              <a:solidFill>
                <a:schemeClr val="dk1"/>
              </a:solidFill>
              <a:latin typeface="Calibri"/>
            </a:endParaRPr>
          </a:p>
          <a:p>
            <a:pPr lvl="4" marL="1714680" indent="-343080" defTabSz="34308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35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35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648320" y="1200240"/>
            <a:ext cx="403812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1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100" spc="-1" strike="noStrike">
              <a:solidFill>
                <a:schemeClr val="dk1"/>
              </a:solidFill>
              <a:latin typeface="Calibri"/>
            </a:endParaRPr>
          </a:p>
          <a:p>
            <a:pPr lvl="1" marL="685800" indent="-343080" defTabSz="3430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2" marL="1028880" indent="-343080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500" spc="-1" strike="noStrike">
              <a:solidFill>
                <a:schemeClr val="dk1"/>
              </a:solidFill>
              <a:latin typeface="Calibri"/>
            </a:endParaRPr>
          </a:p>
          <a:p>
            <a:pPr lvl="3" marL="1371600" indent="-343080" defTabSz="34308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35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350" spc="-1" strike="noStrike">
              <a:solidFill>
                <a:schemeClr val="dk1"/>
              </a:solidFill>
              <a:latin typeface="Calibri"/>
            </a:endParaRPr>
          </a:p>
          <a:p>
            <a:pPr lvl="4" marL="1714680" indent="-343080" defTabSz="34308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35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35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4767120"/>
            <a:ext cx="289512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68C1E12-1E17-4933-9285-F332D22D6A9A}" type="slidenum"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343080">
              <a:lnSpc>
                <a:spcPct val="100000"/>
              </a:lnSpc>
              <a:buNone/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151280"/>
            <a:ext cx="4039920" cy="47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343080">
              <a:lnSpc>
                <a:spcPct val="100000"/>
              </a:lnSpc>
              <a:spcBef>
                <a:spcPts val="360"/>
              </a:spcBef>
              <a:buNone/>
              <a:tabLst>
                <a:tab algn="l" pos="0"/>
              </a:tabLst>
            </a:pPr>
            <a:r>
              <a:rPr b="1" lang="en-US" sz="1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57200" y="1631160"/>
            <a:ext cx="4039920" cy="296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3430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1" marL="685800" indent="-343080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1500" spc="-1" strike="noStrike">
              <a:solidFill>
                <a:schemeClr val="dk1"/>
              </a:solidFill>
              <a:latin typeface="Calibri"/>
            </a:endParaRPr>
          </a:p>
          <a:p>
            <a:pPr lvl="2" marL="1028880" indent="-343080" defTabSz="34308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35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350" spc="-1" strike="noStrike">
              <a:solidFill>
                <a:schemeClr val="dk1"/>
              </a:solidFill>
              <a:latin typeface="Calibri"/>
            </a:endParaRPr>
          </a:p>
          <a:p>
            <a:pPr lvl="3" marL="1371600" indent="-343080" defTabSz="343080">
              <a:lnSpc>
                <a:spcPct val="100000"/>
              </a:lnSpc>
              <a:spcBef>
                <a:spcPts val="24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2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200" spc="-1" strike="noStrike">
              <a:solidFill>
                <a:schemeClr val="dk1"/>
              </a:solidFill>
              <a:latin typeface="Calibri"/>
            </a:endParaRPr>
          </a:p>
          <a:p>
            <a:pPr lvl="4" marL="1714680" indent="-343080" defTabSz="343080">
              <a:lnSpc>
                <a:spcPct val="100000"/>
              </a:lnSpc>
              <a:spcBef>
                <a:spcPts val="241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2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645080" y="1151280"/>
            <a:ext cx="4041360" cy="47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343080">
              <a:lnSpc>
                <a:spcPct val="100000"/>
              </a:lnSpc>
              <a:spcBef>
                <a:spcPts val="360"/>
              </a:spcBef>
              <a:buNone/>
              <a:tabLst>
                <a:tab algn="l" pos="0"/>
              </a:tabLst>
            </a:pPr>
            <a:r>
              <a:rPr b="1" lang="en-US" sz="1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4645080" y="1631160"/>
            <a:ext cx="4041360" cy="296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3430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1" marL="685800" indent="-343080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1500" spc="-1" strike="noStrike">
              <a:solidFill>
                <a:schemeClr val="dk1"/>
              </a:solidFill>
              <a:latin typeface="Calibri"/>
            </a:endParaRPr>
          </a:p>
          <a:p>
            <a:pPr lvl="2" marL="1028880" indent="-343080" defTabSz="34308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35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350" spc="-1" strike="noStrike">
              <a:solidFill>
                <a:schemeClr val="dk1"/>
              </a:solidFill>
              <a:latin typeface="Calibri"/>
            </a:endParaRPr>
          </a:p>
          <a:p>
            <a:pPr lvl="3" marL="1371600" indent="-343080" defTabSz="343080">
              <a:lnSpc>
                <a:spcPct val="100000"/>
              </a:lnSpc>
              <a:spcBef>
                <a:spcPts val="24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2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200" spc="-1" strike="noStrike">
              <a:solidFill>
                <a:schemeClr val="dk1"/>
              </a:solidFill>
              <a:latin typeface="Calibri"/>
            </a:endParaRPr>
          </a:p>
          <a:p>
            <a:pPr lvl="4" marL="1714680" indent="-343080" defTabSz="343080">
              <a:lnSpc>
                <a:spcPct val="100000"/>
              </a:lnSpc>
              <a:spcBef>
                <a:spcPts val="241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2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 type="dt" idx="19"/>
          </p:nvPr>
        </p:nvSpPr>
        <p:spPr>
          <a:xfrm>
            <a:off x="45720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 type="ftr" idx="20"/>
          </p:nvPr>
        </p:nvSpPr>
        <p:spPr>
          <a:xfrm>
            <a:off x="3124080" y="4767120"/>
            <a:ext cx="289512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8"/>
          <p:cNvSpPr>
            <a:spLocks noGrp="1"/>
          </p:cNvSpPr>
          <p:nvPr>
            <p:ph type="sldNum" idx="21"/>
          </p:nvPr>
        </p:nvSpPr>
        <p:spPr>
          <a:xfrm>
            <a:off x="655308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E765CBC-D1AC-42FC-9C98-F9CBA0E2C711}" type="slidenum"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343080">
              <a:lnSpc>
                <a:spcPct val="100000"/>
              </a:lnSpc>
              <a:buNone/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2"/>
          </p:nvPr>
        </p:nvSpPr>
        <p:spPr>
          <a:xfrm>
            <a:off x="45720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3"/>
          </p:nvPr>
        </p:nvSpPr>
        <p:spPr>
          <a:xfrm>
            <a:off x="3124080" y="4767120"/>
            <a:ext cx="289512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4"/>
          </p:nvPr>
        </p:nvSpPr>
        <p:spPr>
          <a:xfrm>
            <a:off x="655308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A22BD86-2282-4F8F-B9F7-6D91B2AD5B93}" type="slidenum"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5"/>
          </p:nvPr>
        </p:nvSpPr>
        <p:spPr>
          <a:xfrm>
            <a:off x="45720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6"/>
          </p:nvPr>
        </p:nvSpPr>
        <p:spPr>
          <a:xfrm>
            <a:off x="3124080" y="4767120"/>
            <a:ext cx="289512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27"/>
          </p:nvPr>
        </p:nvSpPr>
        <p:spPr>
          <a:xfrm>
            <a:off x="655308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C1E2DA6-725D-42BF-A802-0D0536300830}" type="slidenum"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04840"/>
            <a:ext cx="3007800" cy="871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343080"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15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3575160" y="204840"/>
            <a:ext cx="5111280" cy="438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685800" indent="-343080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1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100" spc="-1" strike="noStrike">
              <a:solidFill>
                <a:schemeClr val="dk1"/>
              </a:solidFill>
              <a:latin typeface="Calibri"/>
            </a:endParaRPr>
          </a:p>
          <a:p>
            <a:pPr lvl="2" marL="1028880" indent="-343080" defTabSz="3430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371600" indent="-343080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500" spc="-1" strike="noStrike">
              <a:solidFill>
                <a:schemeClr val="dk1"/>
              </a:solidFill>
              <a:latin typeface="Calibri"/>
            </a:endParaRPr>
          </a:p>
          <a:p>
            <a:pPr lvl="4" marL="1714680" indent="-343080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5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457200" y="1076400"/>
            <a:ext cx="3007800" cy="351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343080">
              <a:lnSpc>
                <a:spcPct val="100000"/>
              </a:lnSpc>
              <a:spcBef>
                <a:spcPts val="210"/>
              </a:spcBef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05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dt" idx="28"/>
          </p:nvPr>
        </p:nvSpPr>
        <p:spPr>
          <a:xfrm>
            <a:off x="45720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ftr" idx="29"/>
          </p:nvPr>
        </p:nvSpPr>
        <p:spPr>
          <a:xfrm>
            <a:off x="3124080" y="4767120"/>
            <a:ext cx="289512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" name="PlaceHolder 6"/>
          <p:cNvSpPr>
            <a:spLocks noGrp="1"/>
          </p:cNvSpPr>
          <p:nvPr>
            <p:ph type="sldNum" idx="30"/>
          </p:nvPr>
        </p:nvSpPr>
        <p:spPr>
          <a:xfrm>
            <a:off x="655308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8B838F3-D9A2-46EA-9A04-DE81D6445816}" type="slidenum"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1792440" y="3600360"/>
            <a:ext cx="5486040" cy="4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343080"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15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body"/>
          </p:nvPr>
        </p:nvSpPr>
        <p:spPr>
          <a:xfrm>
            <a:off x="1792440" y="459720"/>
            <a:ext cx="5486040" cy="3085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 type="body"/>
          </p:nvPr>
        </p:nvSpPr>
        <p:spPr>
          <a:xfrm>
            <a:off x="1792440" y="4025520"/>
            <a:ext cx="5486040" cy="60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343080">
              <a:lnSpc>
                <a:spcPct val="100000"/>
              </a:lnSpc>
              <a:spcBef>
                <a:spcPts val="210"/>
              </a:spcBef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05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 type="dt" idx="31"/>
          </p:nvPr>
        </p:nvSpPr>
        <p:spPr>
          <a:xfrm>
            <a:off x="45720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" name="PlaceHolder 5"/>
          <p:cNvSpPr>
            <a:spLocks noGrp="1"/>
          </p:cNvSpPr>
          <p:nvPr>
            <p:ph type="ftr" idx="32"/>
          </p:nvPr>
        </p:nvSpPr>
        <p:spPr>
          <a:xfrm>
            <a:off x="3124080" y="4767120"/>
            <a:ext cx="289512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" name="PlaceHolder 6"/>
          <p:cNvSpPr>
            <a:spLocks noGrp="1"/>
          </p:cNvSpPr>
          <p:nvPr>
            <p:ph type="sldNum" idx="33"/>
          </p:nvPr>
        </p:nvSpPr>
        <p:spPr>
          <a:xfrm>
            <a:off x="655308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FC0252E-6B94-4166-9DAB-B9B698AD05C0}" type="slidenum"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0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0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4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4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0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Nivelul rețea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IP, IPv4/IPv6, CIDR, Subnetting, VLSM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Obiective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34308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La finalul cursului, studentul poate: 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indent="0" defTabSz="34308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- Explica rolul nivelului rețea și diferența MAC vs IP 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indent="0" defTabSz="34308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- Identifica tipuri de protocoale la nivel rețea (rutabile vs rutare)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indent="0" defTabSz="34308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- Explica structura de bază a IPv4 și IPv6 și câmpuri cheie (TTL/Hop Limit, Next Header) 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indent="0" defTabSz="34308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- Lucra cu CIDR (prefix /n) și calcula: rețea, broadcast, interval host 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indent="0" defTabSz="34308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- Face subnetting cu mască fixă (FLSM) și cu mască variabilă (VLSM) în IPv4 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indent="0" defTabSz="34308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- Identifica tipuri de adrese și tipuri de comunicare (unicast, multicast, broadcast/anycast)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indent="0" defTabSz="34308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- Înțelege noțiuni esențiale IPv6: link-local, global, multicast, prescurtări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457200" y="204840"/>
            <a:ext cx="3007800" cy="871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chemeClr val="dk1"/>
                </a:solidFill>
                <a:latin typeface="Calibri"/>
              </a:rPr>
              <a:t>Funcțiile nivelului rețea</a:t>
            </a:r>
            <a:endParaRPr b="0" lang="en-US" sz="15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/>
          </p:nvPr>
        </p:nvSpPr>
        <p:spPr>
          <a:xfrm>
            <a:off x="457200" y="1076400"/>
            <a:ext cx="3007800" cy="351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343080">
              <a:lnSpc>
                <a:spcPct val="100000"/>
              </a:lnSpc>
              <a:spcBef>
                <a:spcPts val="210"/>
              </a:spcBef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chemeClr val="dk1"/>
                </a:solidFill>
                <a:latin typeface="Calibri"/>
              </a:rPr>
              <a:t>Fragmentarea datagramelor (unde e cazul) și reasamblarea la destinație</a:t>
            </a:r>
            <a:endParaRPr b="0" lang="en-US" sz="1050" spc="-1" strike="noStrike">
              <a:solidFill>
                <a:schemeClr val="dk1"/>
              </a:solidFill>
              <a:latin typeface="Calibri"/>
            </a:endParaRPr>
          </a:p>
          <a:p>
            <a:pPr indent="0" defTabSz="343080">
              <a:lnSpc>
                <a:spcPct val="100000"/>
              </a:lnSpc>
              <a:spcBef>
                <a:spcPts val="210"/>
              </a:spcBef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chemeClr val="dk1"/>
                </a:solidFill>
                <a:latin typeface="Calibri"/>
              </a:rPr>
              <a:t>Rutarea pachetelor de la sursă la destinație</a:t>
            </a:r>
            <a:endParaRPr b="0" lang="en-US" sz="105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71" name="Picture 1" descr="assets/images/fig-l3-role.png"/>
          <p:cNvPicPr/>
          <p:nvPr/>
        </p:nvPicPr>
        <p:blipFill>
          <a:blip r:embed="rId1"/>
          <a:stretch/>
        </p:blipFill>
        <p:spPr>
          <a:xfrm>
            <a:off x="4508640" y="203040"/>
            <a:ext cx="3225600" cy="4381200"/>
          </a:xfrm>
          <a:prstGeom prst="rect">
            <a:avLst/>
          </a:prstGeom>
          <a:ln w="9525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Tipuri de protocoale de nivel rețea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Protocoale rutabile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685800" indent="-343080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100" spc="-1" strike="noStrike">
                <a:solidFill>
                  <a:schemeClr val="dk1"/>
                </a:solidFill>
                <a:latin typeface="Calibri"/>
              </a:rPr>
              <a:t>transportă date de la niveluri superioare (ex: IP)</a:t>
            </a:r>
            <a:endParaRPr b="0" lang="en-US" sz="21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Protocoale de rutare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685800" indent="-343080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100" spc="-1" strike="noStrike">
                <a:solidFill>
                  <a:schemeClr val="dk1"/>
                </a:solidFill>
                <a:latin typeface="Calibri"/>
              </a:rPr>
              <a:t>ajută la determinarea rutei (ex: OSPF, RIP) (doar mențiune aici)</a:t>
            </a:r>
            <a:endParaRPr b="0" lang="en-US" sz="21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457200" y="204840"/>
            <a:ext cx="3007800" cy="871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chemeClr val="dk1"/>
                </a:solidFill>
                <a:latin typeface="Calibri"/>
              </a:rPr>
              <a:t>De ce IP și nu MAC?</a:t>
            </a:r>
            <a:endParaRPr b="0" lang="en-US" sz="15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/>
          </p:nvPr>
        </p:nvSpPr>
        <p:spPr>
          <a:xfrm>
            <a:off x="457200" y="1076400"/>
            <a:ext cx="3007800" cy="351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343080">
              <a:lnSpc>
                <a:spcPct val="100000"/>
              </a:lnSpc>
              <a:spcBef>
                <a:spcPts val="210"/>
              </a:spcBef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chemeClr val="dk1"/>
                </a:solidFill>
                <a:latin typeface="Calibri"/>
              </a:rPr>
              <a:t>MAC (nivel 2): semnificație locală (într-un domeniu L2)</a:t>
            </a:r>
            <a:endParaRPr b="0" lang="en-US" sz="1050" spc="-1" strike="noStrike">
              <a:solidFill>
                <a:schemeClr val="dk1"/>
              </a:solidFill>
              <a:latin typeface="Calibri"/>
            </a:endParaRPr>
          </a:p>
          <a:p>
            <a:pPr indent="0" defTabSz="343080">
              <a:lnSpc>
                <a:spcPct val="100000"/>
              </a:lnSpc>
              <a:spcBef>
                <a:spcPts val="210"/>
              </a:spcBef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chemeClr val="dk1"/>
                </a:solidFill>
                <a:latin typeface="Calibri"/>
              </a:rPr>
              <a:t>IP (nivel 3): semnificație ierarhică (rețea + host), rutabil global</a:t>
            </a:r>
            <a:endParaRPr b="0" lang="en-US" sz="105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76" name="Picture 1" descr="assets/images/fig-mac-vs-ip.png"/>
          <p:cNvPicPr/>
          <p:nvPr/>
        </p:nvPicPr>
        <p:blipFill>
          <a:blip r:embed="rId1"/>
          <a:stretch/>
        </p:blipFill>
        <p:spPr>
          <a:xfrm>
            <a:off x="4241880" y="203040"/>
            <a:ext cx="3746160" cy="4381200"/>
          </a:xfrm>
          <a:prstGeom prst="rect">
            <a:avLst/>
          </a:prstGeom>
          <a:ln w="9525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IP: ideea de bază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Protocolul fundamental al Internetului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Best effort (nu garantează livrare)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Adrese logice + rutare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Versiuni IP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IPv4: 32 biți, foarte răspândit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IPv6: 128 biți, spațiu mare de adrese + simplificări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IPv4 vs IPv6 (comparare rapidă)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graphicFrame>
        <p:nvGraphicFramePr>
          <p:cNvPr id="82" name="Content Placeholder 5"/>
          <p:cNvGraphicFramePr/>
          <p:nvPr/>
        </p:nvGraphicFramePr>
        <p:xfrm>
          <a:off x="457200" y="1193760"/>
          <a:ext cx="8229240" cy="18036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0"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IPv4</a:t>
                      </a:r>
                      <a:endParaRPr b="0" lang="en-US" sz="13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IPv6</a:t>
                      </a:r>
                      <a:endParaRPr b="0" lang="en-US" sz="13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32 biți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128 biți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header variabil + checksum header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header fix (extensii) + fără checksum header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broadcast există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broadcast nu există (înlocuit prin multicast)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fragmentare posibilă în rețea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fragmentare doar la sursă (prin extensii)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NAT des întâlnit în practică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permite din nou end-to-end (în principiu)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Tipuri de comunicare IPv4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Unicast: un host -&gt; un host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Multicast: un host -&gt; grup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Broadcast: un host -&gt; toate host-urile dintr-un segment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Format pachet IPv4 (câmpuri cheie)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86" name="Picture 1" descr="assets/images/fig-ipv4-header.png"/>
          <p:cNvPicPr/>
          <p:nvPr/>
        </p:nvPicPr>
        <p:blipFill>
          <a:blip r:embed="rId1"/>
          <a:stretch/>
        </p:blipFill>
        <p:spPr>
          <a:xfrm>
            <a:off x="1079640" y="1193760"/>
            <a:ext cx="6997320" cy="3390480"/>
          </a:xfrm>
          <a:prstGeom prst="rect">
            <a:avLst/>
          </a:prstGeom>
          <a:ln w="9525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IPv4: câmpuri esențiale (partea 1)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Version (4): 4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IHL: lungimea header-ului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DSCP/ECN: QoS și congestion notification (conceptual)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Total Length: header + date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IPv4: câmpuri esențiale (partea 2)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Identification + Flags (DF/MF) + Fragment Offset: fragmentare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TTL: scade la fiecare hop, previne bucle infinite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Protocol: ce e încapsulat (TCP=6, UDP=17, ICMP=1)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IPv4: câmpuri esențiale (partea 3)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Header Checksum: doar pentru header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Source / Destination Address: 32 biți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Options: rare în practică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Format IPv6 (header fix + extensii)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94" name="Picture 1" descr="assets/images/fig-ipv6-header.png"/>
          <p:cNvPicPr/>
          <p:nvPr/>
        </p:nvPicPr>
        <p:blipFill>
          <a:blip r:embed="rId1"/>
          <a:stretch/>
        </p:blipFill>
        <p:spPr>
          <a:xfrm>
            <a:off x="1168560" y="1193760"/>
            <a:ext cx="6806880" cy="3390480"/>
          </a:xfrm>
          <a:prstGeom prst="rect">
            <a:avLst/>
          </a:prstGeom>
          <a:ln w="9525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IPv6: câmpuri esențiale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Version: 6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Traffic Class + Flow Label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Payload Length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Next Header (analog “Protocol”, dar și extensii)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Hop Limit (analog TTL)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Source/Destination: 128 biți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457200" y="204840"/>
            <a:ext cx="3007800" cy="871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chemeClr val="dk1"/>
                </a:solidFill>
                <a:latin typeface="Calibri"/>
              </a:rPr>
              <a:t>Adresare IPv4: rețea + host</a:t>
            </a:r>
            <a:endParaRPr b="0" lang="en-US" sz="15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/>
          </p:nvPr>
        </p:nvSpPr>
        <p:spPr>
          <a:xfrm>
            <a:off x="457200" y="1076400"/>
            <a:ext cx="3007800" cy="351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343080">
              <a:lnSpc>
                <a:spcPct val="100000"/>
              </a:lnSpc>
              <a:spcBef>
                <a:spcPts val="210"/>
              </a:spcBef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chemeClr val="dk1"/>
                </a:solidFill>
                <a:latin typeface="Calibri"/>
              </a:rPr>
              <a:t>O adresă IPv4 are:</a:t>
            </a:r>
            <a:endParaRPr b="0" lang="en-US" sz="1050" spc="-1" strike="noStrike">
              <a:solidFill>
                <a:schemeClr val="dk1"/>
              </a:solidFill>
              <a:latin typeface="Calibri"/>
            </a:endParaRPr>
          </a:p>
          <a:p>
            <a:pPr marL="343080" indent="0" defTabSz="343080">
              <a:lnSpc>
                <a:spcPct val="100000"/>
              </a:lnSpc>
              <a:spcBef>
                <a:spcPts val="181"/>
              </a:spcBef>
              <a:buNone/>
              <a:tabLst>
                <a:tab algn="l" pos="0"/>
              </a:tabLst>
            </a:pPr>
            <a:r>
              <a:rPr b="0" lang="en-US" sz="900" spc="-1" strike="noStrike">
                <a:solidFill>
                  <a:schemeClr val="dk1"/>
                </a:solidFill>
                <a:latin typeface="Calibri"/>
              </a:rPr>
              <a:t>partea de rețea (prefix)</a:t>
            </a:r>
            <a:endParaRPr b="0" lang="en-US" sz="900" spc="-1" strike="noStrike">
              <a:solidFill>
                <a:schemeClr val="dk1"/>
              </a:solidFill>
              <a:latin typeface="Calibri"/>
            </a:endParaRPr>
          </a:p>
          <a:p>
            <a:pPr marL="343080" indent="0" defTabSz="343080">
              <a:lnSpc>
                <a:spcPct val="100000"/>
              </a:lnSpc>
              <a:spcBef>
                <a:spcPts val="181"/>
              </a:spcBef>
              <a:buNone/>
              <a:tabLst>
                <a:tab algn="l" pos="0"/>
              </a:tabLst>
            </a:pPr>
            <a:r>
              <a:rPr b="0" lang="en-US" sz="900" spc="-1" strike="noStrike">
                <a:solidFill>
                  <a:schemeClr val="dk1"/>
                </a:solidFill>
                <a:latin typeface="Calibri"/>
              </a:rPr>
              <a:t>partea de host</a:t>
            </a:r>
            <a:endParaRPr b="0" lang="en-US" sz="900" spc="-1" strike="noStrike">
              <a:solidFill>
                <a:schemeClr val="dk1"/>
              </a:solidFill>
              <a:latin typeface="Calibri"/>
            </a:endParaRPr>
          </a:p>
          <a:p>
            <a:pPr indent="0" defTabSz="343080">
              <a:lnSpc>
                <a:spcPct val="100000"/>
              </a:lnSpc>
              <a:spcBef>
                <a:spcPts val="210"/>
              </a:spcBef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chemeClr val="dk1"/>
                </a:solidFill>
                <a:latin typeface="Calibri"/>
              </a:rPr>
              <a:t>Masca/prefixul separă cele două părți</a:t>
            </a:r>
            <a:endParaRPr b="0" lang="en-US" sz="105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99" name="Picture 1" descr="assets/images/fig-prefix-mask.png"/>
          <p:cNvPicPr/>
          <p:nvPr/>
        </p:nvPicPr>
        <p:blipFill>
          <a:blip r:embed="rId1"/>
          <a:stretch/>
        </p:blipFill>
        <p:spPr>
          <a:xfrm>
            <a:off x="3568680" y="762120"/>
            <a:ext cx="5105160" cy="3276360"/>
          </a:xfrm>
          <a:prstGeom prst="rect">
            <a:avLst/>
          </a:prstGeom>
          <a:ln w="9525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Clase IPv4 (istoric, pentru context)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Model vechi, înlocuit de CIDR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Clase A/B/C, D multicast, E rezervat Notă: în practică lucrăm cu CIDR, nu cu clase.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CIDR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Alocare fără clase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Notație /n = număr biți 1 în mască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Exemplu: 255.255.0.0 = /16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indent="0" defTabSz="34308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ourier New"/>
              </a:rPr>
              <a:t>[SCENARIO] c5-assets/scenario-cidr-basics/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Subnetting IPv4 (FLSM)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Împărțim o rețea în subrețele egale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Luăm biți din partea de host și îi mutăm în prefix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indent="0" defTabSz="34308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ourier New"/>
              </a:rPr>
              <a:t>[SCENARIO] c5-assets/scenario-subnetting-flsm/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VLSM (IPv4)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Subrețele cu mărimi diferite, alocate eficient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Pași tipici: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685800" indent="-343080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AutoNum type="arabicParenR"/>
            </a:pPr>
            <a:r>
              <a:rPr b="0" lang="en-US" sz="2100" spc="-1" strike="noStrike">
                <a:solidFill>
                  <a:schemeClr val="dk1"/>
                </a:solidFill>
                <a:latin typeface="Calibri"/>
              </a:rPr>
              <a:t>sortezi cerințele descrescător (hosts)</a:t>
            </a:r>
            <a:endParaRPr b="0" lang="en-US" sz="2100" spc="-1" strike="noStrike">
              <a:solidFill>
                <a:schemeClr val="dk1"/>
              </a:solidFill>
              <a:latin typeface="Calibri"/>
            </a:endParaRPr>
          </a:p>
          <a:p>
            <a:pPr lvl="1" marL="685800" indent="-343080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AutoNum type="arabicParenR"/>
            </a:pPr>
            <a:r>
              <a:rPr b="0" lang="en-US" sz="2100" spc="-1" strike="noStrike">
                <a:solidFill>
                  <a:schemeClr val="dk1"/>
                </a:solidFill>
                <a:latin typeface="Calibri"/>
              </a:rPr>
              <a:t>aloci blocuri de puteri ale lui 2</a:t>
            </a:r>
            <a:endParaRPr b="0" lang="en-US" sz="2100" spc="-1" strike="noStrike">
              <a:solidFill>
                <a:schemeClr val="dk1"/>
              </a:solidFill>
              <a:latin typeface="Calibri"/>
            </a:endParaRPr>
          </a:p>
          <a:p>
            <a:pPr lvl="1" marL="685800" indent="-343080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AutoNum type="arabicParenR"/>
            </a:pPr>
            <a:r>
              <a:rPr b="0" lang="en-US" sz="2100" spc="-1" strike="noStrike">
                <a:solidFill>
                  <a:schemeClr val="dk1"/>
                </a:solidFill>
                <a:latin typeface="Calibri"/>
              </a:rPr>
              <a:t>verifici alinierea la prefix</a:t>
            </a:r>
            <a:endParaRPr b="0" lang="en-US" sz="2100" spc="-1" strike="noStrike">
              <a:solidFill>
                <a:schemeClr val="dk1"/>
              </a:solidFill>
              <a:latin typeface="Calibri"/>
            </a:endParaRPr>
          </a:p>
          <a:p>
            <a:pPr indent="0" defTabSz="34308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ourier New"/>
              </a:rPr>
              <a:t>[SCENARIO] c5-assets/scenario-vlsm/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Adrese speciale IPv4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0.0.0.0 (default / “toate interfețele” în bind)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255.255.255.255 (broadcast limitat)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loopback: 127.0.0.0/8 (uzual 127.0.0.1)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link-local: 169.254.0.0/16 (APIPA - Automatic Private IP Addressing)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private: 10.0.0.0/8, 172.16.0.0/12, 192.168.0.0/16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IPv6: reprezentare și prescurtare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11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scriere hex, 8 grupuri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eliminare zerouri la început de grup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o singură compresie cu :: pentru cea mai lungă secvență de 0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indent="0" defTabSz="34308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ourier New"/>
              </a:rPr>
              <a:t>[SCENARIO] c5-assets/scenario-ipv6-shortening/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IPv6: tipuri uzuale de adrese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13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loopback: ::1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global unicast: 2000::/3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link-local: fe80::/10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multicast: ff00::/8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default route: ::/0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Adrese speciale IPv6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graphicFrame>
        <p:nvGraphicFramePr>
          <p:cNvPr id="115" name="Content Placeholder 5"/>
          <p:cNvGraphicFramePr/>
          <p:nvPr/>
        </p:nvGraphicFramePr>
        <p:xfrm>
          <a:off x="457200" y="1193760"/>
          <a:ext cx="8229240" cy="261792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Adresă</a:t>
                      </a:r>
                      <a:endParaRPr b="0" lang="en-US" sz="13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Prefix</a:t>
                      </a:r>
                      <a:endParaRPr b="0" lang="en-US" sz="13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Echivalent IPv4</a:t>
                      </a:r>
                      <a:endParaRPr b="0" lang="en-US" sz="13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Loopback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ourier New"/>
                        </a:rPr>
                        <a:t>::1/128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ourier New"/>
                        </a:rPr>
                        <a:t>127.0.0.1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Link-local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ourier New"/>
                        </a:rPr>
                        <a:t>fe80::/10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ourier New"/>
                        </a:rPr>
                        <a:t>169.254.0.0/16</a:t>
                      </a: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 (APIPA)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Unique local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ourier New"/>
                        </a:rPr>
                        <a:t>fc00::/7</a:t>
                      </a: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 (uzual </a:t>
                      </a: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ourier New"/>
                        </a:rPr>
                        <a:t>fd00::/8</a:t>
                      </a: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)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ourier New"/>
                        </a:rPr>
                        <a:t>10.0.0.0/8</a:t>
                      </a: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, </a:t>
                      </a: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ourier New"/>
                        </a:rPr>
                        <a:t>172.16.0.0/12</a:t>
                      </a: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, </a:t>
                      </a: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ourier New"/>
                        </a:rPr>
                        <a:t>192.168.0.0/16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Global unicast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ourier New"/>
                        </a:rPr>
                        <a:t>2000::/3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adrese publice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Multicast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ourier New"/>
                        </a:rPr>
                        <a:t>ff00::/8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ourier New"/>
                        </a:rPr>
                        <a:t>224.0.0.0/4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Unspecified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ourier New"/>
                        </a:rPr>
                        <a:t>::/128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ourier New"/>
                        </a:rPr>
                        <a:t>0.0.0.0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Default route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ourier New"/>
                        </a:rPr>
                        <a:t>::/0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ourier New"/>
                        </a:rPr>
                        <a:t>0.0.0.0/0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34308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Note: - </a:t>
            </a: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Nu există broadcast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în IPv6 — înlocuit complet de multicast - </a:t>
            </a: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Link-local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(</a:t>
            </a:r>
            <a:r>
              <a:rPr b="0" lang="en-US" sz="2400" spc="-1" strike="noStrike">
                <a:solidFill>
                  <a:schemeClr val="dk1"/>
                </a:solidFill>
                <a:latin typeface="Courier New"/>
              </a:rPr>
              <a:t>fe80::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) este întotdeauna prezent pe interfață, nu e fallback ca APIPA - </a:t>
            </a: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Unique local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(</a:t>
            </a:r>
            <a:r>
              <a:rPr b="0" lang="en-US" sz="2400" spc="-1" strike="noStrike">
                <a:solidFill>
                  <a:schemeClr val="dk1"/>
                </a:solidFill>
                <a:latin typeface="Courier New"/>
              </a:rPr>
              <a:t>fd00::/8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) e analogul adreselor private, dar nu este rutabil pe Internet - Multicast are </a:t>
            </a: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scope inclus în adresă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: </a:t>
            </a:r>
            <a:r>
              <a:rPr b="0" lang="en-US" sz="2400" spc="-1" strike="noStrike">
                <a:solidFill>
                  <a:schemeClr val="dk1"/>
                </a:solidFill>
                <a:latin typeface="Courier New"/>
              </a:rPr>
              <a:t>ff02::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= link-local, </a:t>
            </a:r>
            <a:r>
              <a:rPr b="0" lang="en-US" sz="2400" spc="-1" strike="noStrike">
                <a:solidFill>
                  <a:schemeClr val="dk1"/>
                </a:solidFill>
                <a:latin typeface="Courier New"/>
              </a:rPr>
              <a:t>ff05::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= site-local etc.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Tipuri de comunicare IPv6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18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unicast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multicast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anycast (aceeași adresă pe mai multe noduri, ajunge la “cel mai apropiat”)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IPv6 scopes (ideea)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0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link-local: doar pe link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unique local: intern (de obicei)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global: rutabil global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multicast: scope inclus în adresă (conceptual)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Subnetting în IPv6 (practic)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2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primești un prefix (ex: /48)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aloci subrețele prin extinderea prefixului (frecvent /64 pentru LAN)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numărul de subrețele din /48 în /64 este 2^(64-48)=65536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IPv6 în URL-uri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[2001:db8::1]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cu port: [2001:db8::1]:8080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Recapitulare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rol L3: adresare + rutare + TTL/Hop Limit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IPv4: CIDR + subnetting + VLSM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IPv6: tipuri de adrese + prescurtare + prefixe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Pregătire pentru Curs 6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NAT/PAT, ICMP, DHCP, BOOTP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legătura între L2 (ARP) și L3 (IP), apoi L3-&gt;L4 (porturi)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922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2026-03-24T13:25:04Z</dcterms:created>
  <dc:creator/>
  <dc:description/>
  <dc:language>en-US</dc:language>
  <cp:lastModifiedBy/>
  <dcterms:modified xsi:type="dcterms:W3CDTF">2026-03-25T10:07:12Z</dcterms:modified>
  <cp:revision>1</cp:revision>
  <dc:subject/>
  <dc:title/>
</cp:coreProperties>
</file>