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Rețele de calculatoare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Fundamente: concepte, componente, clasificări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Descriere generală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Utilitate</a:t>
            </a:r>
          </a:p>
          <a:p>
            <a:pPr lvl="0"/>
            <a:r>
              <a:rPr/>
              <a:t>Obiective</a:t>
            </a:r>
          </a:p>
          <a:p>
            <a:pPr lvl="0"/>
            <a:r>
              <a:rPr/>
              <a:t>Structura cursului</a:t>
            </a:r>
          </a:p>
          <a:p>
            <a:pPr lvl="0"/>
            <a:r>
              <a:rPr/>
              <a:t>Cerințe și punctaj</a:t>
            </a:r>
          </a:p>
          <a:p>
            <a:pPr lvl="0"/>
            <a:r>
              <a:rPr/>
              <a:t>Resurse și instrumente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finalul cursului, studentul poate: - Defini o rețea de calculatoare - Clasifica rețelele după dimensiune și topologie - Explica rolul mediilor de transmisie și al dispozitivelor de rețea - Înțelege noțiunile de protocol, stivă de protocoale și încapsulare - Urmări conceptual traseul unui mesaj în rețea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este o rețea de calculatoare?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Set de sisteme de calcul interconectate</a:t>
            </a:r>
          </a:p>
          <a:p>
            <a:pPr lvl="0"/>
            <a:r>
              <a:rPr/>
              <a:t>Comunicare între sisteme:</a:t>
            </a:r>
          </a:p>
          <a:p>
            <a:pPr lvl="1"/>
            <a:r>
              <a:rPr/>
              <a:t>fizic: dispozitive + medii</a:t>
            </a:r>
          </a:p>
          <a:p>
            <a:pPr lvl="1"/>
            <a:r>
              <a:rPr/>
              <a:t>logic: protocoale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 ce sunt utile rețelele?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Partajarea resurselor</a:t>
            </a:r>
          </a:p>
          <a:p>
            <a:pPr lvl="0"/>
            <a:r>
              <a:rPr/>
              <a:t>Acces la resurse la distanță</a:t>
            </a:r>
          </a:p>
          <a:p>
            <a:pPr lvl="0"/>
            <a:r>
              <a:rPr/>
              <a:t>Comunicarea la distanță</a:t>
            </a:r>
          </a:p>
          <a:p>
            <a:pPr lvl="0"/>
            <a:r>
              <a:rPr/>
              <a:t>Coordonarea acțiunilor</a:t>
            </a:r>
          </a:p>
          <a:p>
            <a:pPr lvl="0"/>
            <a:r>
              <a:rPr/>
              <a:t>Scalarea capacității de procesare și stocare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Standarde în rețele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IEEE (ex: 802.3, 802.11)</a:t>
            </a:r>
          </a:p>
          <a:p>
            <a:pPr lvl="0"/>
            <a:r>
              <a:rPr/>
              <a:t>RFC-uri (IETF)</a:t>
            </a:r>
          </a:p>
          <a:p>
            <a:pPr lvl="0"/>
            <a:r>
              <a:rPr/>
              <a:t>Standarde de programare (Berkeley Sockets)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Dimensiunea unei rețele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LAN (Local Area Network)</a:t>
            </a:r>
          </a:p>
          <a:p>
            <a:pPr lvl="1"/>
            <a:r>
              <a:rPr/>
              <a:t>cameră, clădire, campus</a:t>
            </a:r>
          </a:p>
          <a:p>
            <a:pPr lvl="0"/>
            <a:r>
              <a:rPr/>
              <a:t>WAN (Wide Area Network)</a:t>
            </a:r>
          </a:p>
          <a:p>
            <a:pPr lvl="1"/>
            <a:r>
              <a:rPr/>
              <a:t>regiune, țară, continent</a:t>
            </a:r>
          </a:p>
          <a:p>
            <a:pPr lvl="0"/>
            <a:r>
              <a:rPr/>
              <a:t>Internet</a:t>
            </a:r>
          </a:p>
          <a:p>
            <a:pPr lvl="1"/>
            <a:r>
              <a:rPr/>
              <a:t>interconectare globală de rețele WAN și LAN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LAN: caracteristici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Dimensiuni reduse</a:t>
            </a:r>
          </a:p>
          <a:p>
            <a:pPr lvl="0"/>
            <a:r>
              <a:rPr/>
              <a:t>Întârzieri mici</a:t>
            </a:r>
          </a:p>
          <a:p>
            <a:pPr lvl="0"/>
            <a:r>
              <a:rPr/>
              <a:t>Erori puține</a:t>
            </a:r>
          </a:p>
          <a:p>
            <a:pPr lvl="0"/>
            <a:r>
              <a:rPr/>
              <a:t>Tehnologii uzuale: Ethernet, Wi-Fi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WAN: caracteristici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Interconectează mai multe LAN-uri</a:t>
            </a:r>
          </a:p>
          <a:p>
            <a:pPr lvl="0"/>
            <a:r>
              <a:rPr/>
              <a:t>Nodurile finale sunt în subrețele distincte</a:t>
            </a:r>
          </a:p>
          <a:p>
            <a:pPr lvl="0"/>
            <a:r>
              <a:rPr/>
              <a:t>Transmiterea se face prin rutarea pachetelor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Topologia unei rețele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Modalitatea de conectare a nodurilor</a:t>
            </a:r>
          </a:p>
          <a:p>
            <a:pPr lvl="0"/>
            <a:r>
              <a:rPr/>
              <a:t>Topologie fizică vs topologie logică</a:t>
            </a:r>
          </a:p>
          <a:p>
            <a:pPr lvl="0"/>
            <a:r>
              <a:rPr/>
              <a:t>Punct-la-punct vs multipunct</a:t>
            </a:r>
          </a:p>
          <a:p>
            <a:pPr lvl="0"/>
            <a:r>
              <a:rPr/>
              <a:t>Simetrică vs asimetrică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Topologii uzuale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Clasificare după topologie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Simetrică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Asimetrică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Punct la punct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inel, plasă total conectată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stea, plasă parțial, arbore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Multipunct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magistrală, inel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satelit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Medii de transmisie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Ghidate:</a:t>
            </a:r>
          </a:p>
          <a:p>
            <a:pPr lvl="1"/>
            <a:r>
              <a:rPr/>
              <a:t>cupru (coaxial, torsadat)</a:t>
            </a:r>
          </a:p>
          <a:p>
            <a:pPr lvl="1"/>
            <a:r>
              <a:rPr/>
              <a:t>fibră optică</a:t>
            </a:r>
          </a:p>
          <a:p>
            <a:pPr lvl="0"/>
            <a:r>
              <a:rPr/>
              <a:t>Neghidate:</a:t>
            </a:r>
          </a:p>
          <a:p>
            <a:pPr lvl="1"/>
            <a:r>
              <a:rPr/>
              <a:t>wireless (radio)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Parametri ai transmisiei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bandwidth: cantitatea de date pe secundă</a:t>
            </a:r>
          </a:p>
          <a:p>
            <a:pPr lvl="0"/>
            <a:r>
              <a:rPr/>
              <a:t>latency: întârzierea</a:t>
            </a:r>
          </a:p>
          <a:p>
            <a:pPr lvl="0"/>
            <a:r>
              <a:rPr/>
              <a:t>jitter: variația întârzierii</a:t>
            </a:r>
          </a:p>
          <a:p>
            <a:pPr lvl="0"/>
            <a:r>
              <a:rPr/>
              <a:t>loss: pierderi de pachete</a:t>
            </a:r>
          </a:p>
          <a:p>
            <a:pPr lvl="0" indent="0" marL="0">
              <a:buNone/>
            </a:pPr>
            <a:r>
              <a:rPr/>
              <a:t>[SCENARIO] assets/scenario-ping-traceroute/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Mecanisme de transmisie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Difuzare (broadcast)</a:t>
            </a:r>
          </a:p>
          <a:p>
            <a:pPr lvl="0"/>
            <a:r>
              <a:rPr/>
              <a:t>Punct-la-punct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Tipuri de comutare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Comutare de circuit</a:t>
            </a:r>
          </a:p>
          <a:p>
            <a:pPr lvl="0"/>
            <a:r>
              <a:rPr/>
              <a:t>Comutare de pachete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Dispozitive de comunicație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NIC</a:t>
            </a:r>
          </a:p>
          <a:p>
            <a:pPr lvl="0"/>
            <a:r>
              <a:rPr/>
              <a:t>repetor</a:t>
            </a:r>
          </a:p>
          <a:p>
            <a:pPr lvl="0"/>
            <a:r>
              <a:rPr/>
              <a:t>hub</a:t>
            </a:r>
          </a:p>
          <a:p>
            <a:pPr lvl="0"/>
            <a:r>
              <a:rPr/>
              <a:t>switch</a:t>
            </a:r>
          </a:p>
          <a:p>
            <a:pPr lvl="0"/>
            <a:r>
              <a:rPr/>
              <a:t>router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Hub vs switch vs 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hub: retransmite către toate nodurile</a:t>
            </a:r>
          </a:p>
          <a:p>
            <a:pPr lvl="0"/>
            <a:r>
              <a:rPr/>
              <a:t>switch: transmite selectiv</a:t>
            </a:r>
          </a:p>
          <a:p>
            <a:pPr lvl="0"/>
            <a:r>
              <a:rPr/>
              <a:t>router: conectează rețele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Modele logice de comunicație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Client-server</a:t>
            </a:r>
          </a:p>
          <a:p>
            <a:pPr lvl="0"/>
            <a:r>
              <a:rPr/>
              <a:t>Peer-to-peer Notă: la nivel de programare, comunicarea este întotdeauna client-server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Protocoale de comunicație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Protocol = reguli + sintaxă + comportament</a:t>
            </a:r>
          </a:p>
          <a:p>
            <a:pPr lvl="0"/>
            <a:r>
              <a:rPr/>
              <a:t>Implementare hardware sau software</a:t>
            </a:r>
          </a:p>
          <a:p>
            <a:pPr lvl="0"/>
            <a:r>
              <a:rPr/>
              <a:t>Protocoalele se compun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Stive de protocoale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Separarea pe straturi</a:t>
            </a:r>
          </a:p>
          <a:p>
            <a:pPr lvl="0"/>
            <a:r>
              <a:rPr/>
              <a:t>Fiecare strat oferă servicii</a:t>
            </a:r>
          </a:p>
          <a:p>
            <a:pPr lvl="0"/>
            <a:r>
              <a:rPr/>
              <a:t>Fiecare strat are unitatea sa de transfer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Încapsulare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Datele sunt împachetate succesiv</a:t>
            </a:r>
          </a:p>
          <a:p>
            <a:pPr lvl="0"/>
            <a:r>
              <a:rPr/>
              <a:t>Fiecare nivel adaugă antet</a:t>
            </a:r>
          </a:p>
          <a:p>
            <a:pPr lvl="0"/>
            <a:r>
              <a:rPr/>
              <a:t>Nivelurile inferioare nu interpretează payload-ul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Mini-analiză de trafic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Ce este un pachet real</a:t>
            </a:r>
          </a:p>
          <a:p>
            <a:pPr lvl="0"/>
            <a:r>
              <a:rPr/>
              <a:t>Ce vedem într-un ping</a:t>
            </a:r>
          </a:p>
          <a:p>
            <a:pPr lvl="0"/>
            <a:r>
              <a:rPr/>
              <a:t>Ce vedem într-o interogare DNS</a:t>
            </a:r>
          </a:p>
          <a:p>
            <a:pPr lvl="0" indent="0" marL="0">
              <a:buNone/>
            </a:pPr>
            <a:r>
              <a:rPr/>
              <a:t>[SCENARIO] assets/scenario-capture-basics/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Recapitulare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Clasificări (LAN, WAN, Internet)</a:t>
            </a:r>
          </a:p>
          <a:p>
            <a:pPr lvl="0"/>
            <a:r>
              <a:rPr/>
              <a:t>Topologii și medii</a:t>
            </a:r>
          </a:p>
          <a:p>
            <a:pPr lvl="0"/>
            <a:r>
              <a:rPr/>
              <a:t>Dispozitive de rețea</a:t>
            </a:r>
          </a:p>
          <a:p>
            <a:pPr lvl="0"/>
            <a:r>
              <a:rPr/>
              <a:t>Protocol, stivă, încapsulare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Pregătire pentru Curs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Modele arhitecturale: OSI și TCP/IP</a:t>
            </a:r>
          </a:p>
          <a:p>
            <a:pPr lvl="0"/>
            <a:r>
              <a:rPr/>
              <a:t>Formalizarea straturilor și responsabilităților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2026-02-12T09:25:06Z</dcterms:created>
  <dcterms:modified xsi:type="dcterms:W3CDTF">2026-02-12T09:25:06Z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